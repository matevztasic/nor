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Pozdravljeni, moj projekt se imenuje Vzpon — Zgodba Šoštanjske elektrarne. Je VR aplikacija za predmet Razvijanje aplikacij virtualne in obogatene resničnosti, mentor je Rok Urbanc.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Hladilni stolp in dimnik TEŠ sta iz varnostnih razlogov zaprta za javnost, fizičen vzpon pa bi bil za večino prenevaren. Hkrati je zgodovina slovenske energetike predstavljena le na muzejskih tablah — ne kot nekaj, kar bi lahko doživeli. Zato sem naredil VR izkušnjo, ki uporabniku omogoči varen navidezni vzpon, med katerim spozna zgodovino elektrarne.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Aplikacija je namenjena štirim skupinam: šolam pri urah tehnike in zgodovine, turistom, ki jih zanima industrijska dediščina, ljudem s strahom pred višino za postopno izpostavljenostno terapijo, in zaposlenim v TEŠ pri uvajanju pred delom na višini.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Uporabnik pleza po zunanji konstrukciji elektrarne. Ob kontrolnih točkah se med vzponom odpre zgodovina gradnje, na vrhu pa stopi na galerijo okoli odprtega žrela hladilnega stolpa — z razgledom na dolino in naravnim učinkom vrtoglavice.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Gibanje je z WASD tipkami in miško za pogled. Ob steni stolpa se gibanje spremeni v plezanje. Med vzponom se prikažejo zgodovinske info-točke, na vrhu pa je galerija okoli odprtega žrela s sistemom, ki v realnem času prikazuje doseženo višino.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Aplikacija je zasnovana za WebXR — teče neposredno v brskalniku, tudi na Meta Quest napravi, brez namestitve. Unreal Engine sem opustil sredi projekta zaradi hitrosti razvoja. WebGL sem namenoma izpustil in namesto tega ročno napisal lasten Canvas2D 3D pogon.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Ves 3D svet izračunam ročno na navadnem 2D platnu — vsaka točka gre skozi pravo perspektivno projekcijo. Ker Canvas2D nima globinskega bufferja, ploskve sam sortiram od najbolj oddaljenih do najbližjih. Stolp ima pravo hiperboloidno obliko, je votel, in ima gladko senčenje, da lupina deluje ukrivljeno, ne kot niz ravnih plošč.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 je vznožje stolpa s kotlovnico, strojnico in dimnikom, ter pogled med samim vzponom, kjer lestev sledi ukrivljeni obliki stene.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vrhu je razgled na Šaleško dolino z gozdnatimi grebeni in Velenjskim jezerom. Spodaj je pogled v samo odprto žrelo stolpa, iz katerega se dviga para — tako kot pri pravem TEŠ, kjer je stolp v resnici votel s steno debelo le 18 centimetrov.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Dodana vrednost je varen dostop do sicer nedostopnega industrijskega prostora, izkustvena pot do zgodovine slovenske energetike, in možnost uporabe pri postopnem soočanju s strahom pred višino.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Trenutno gre za Canvas2D pogon, ne pravi WebGL, in aplikacija še ni bila testirana na dejanski Meta Quest napravi. Za končno oddajo načrtujem celoten vzpon, več info-točk in zvok.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Celoten projekt je na GitHubu, organiziran po vajah — ideja, scene, tehnična zasnova — in nato prototip, ki je glavni del tega, kar sem danes pokazal.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Hvala za pozornost. Z veseljem odgovorim na vprašanja.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81D"/>
          </a:solidFill>
          <a:ln/>
        </p:spPr>
      </p:sp>
      <p:sp>
        <p:nvSpPr>
          <p:cNvPr id="3" name="Shape 1"/>
          <p:cNvSpPr/>
          <p:nvPr/>
        </p:nvSpPr>
        <p:spPr>
          <a:xfrm>
            <a:off x="0" y="6729984"/>
            <a:ext cx="12191695" cy="128016"/>
          </a:xfrm>
          <a:prstGeom prst="rect">
            <a:avLst/>
          </a:prstGeom>
          <a:solidFill>
            <a:srgbClr val="FF7A3D"/>
          </a:solidFill>
          <a:ln/>
        </p:spPr>
      </p:sp>
      <p:sp>
        <p:nvSpPr>
          <p:cNvPr id="4" name="Text 2"/>
          <p:cNvSpPr/>
          <p:nvPr/>
        </p:nvSpPr>
        <p:spPr>
          <a:xfrm>
            <a:off x="822960" y="1965960"/>
            <a:ext cx="10515600" cy="365760"/>
          </a:xfrm>
          <a:prstGeom prst="rect">
            <a:avLst/>
          </a:prstGeom>
          <a:noFill/>
          <a:ln/>
        </p:spPr>
        <p:txBody>
          <a:bodyPr wrap="square" rtlCol="0" anchor="ctr"/>
          <a:lstStyle/>
          <a:p>
            <a:pPr indent="0" marL="0">
              <a:buNone/>
            </a:pPr>
            <a:r>
              <a:rPr lang="en-US" sz="1300" b="1" spc="200" kern="0" dirty="0">
                <a:solidFill>
                  <a:srgbClr val="FF7A3D"/>
                </a:solidFill>
                <a:latin typeface="Consolas" pitchFamily="34" charset="0"/>
                <a:ea typeface="Consolas" pitchFamily="34" charset="-122"/>
                <a:cs typeface="Consolas" pitchFamily="34" charset="-120"/>
              </a:rPr>
              <a:t>VR/AR PROJEKT · RAZVIJANJE APLIKACIJ VIRTUALNE IN OBOGATENE RESNIČNOSTI</a:t>
            </a:r>
            <a:endParaRPr lang="en-US" sz="1300" dirty="0"/>
          </a:p>
        </p:txBody>
      </p:sp>
      <p:sp>
        <p:nvSpPr>
          <p:cNvPr id="5" name="Text 3"/>
          <p:cNvSpPr/>
          <p:nvPr/>
        </p:nvSpPr>
        <p:spPr>
          <a:xfrm>
            <a:off x="777240" y="2331720"/>
            <a:ext cx="10515600" cy="1463040"/>
          </a:xfrm>
          <a:prstGeom prst="rect">
            <a:avLst/>
          </a:prstGeom>
          <a:noFill/>
          <a:ln/>
        </p:spPr>
        <p:txBody>
          <a:bodyPr wrap="square" rtlCol="0" anchor="ctr"/>
          <a:lstStyle/>
          <a:p>
            <a:pPr indent="0" marL="0">
              <a:buNone/>
            </a:pPr>
            <a:r>
              <a:rPr lang="en-US" sz="7200" b="1" dirty="0">
                <a:solidFill>
                  <a:srgbClr val="EEF1F0"/>
                </a:solidFill>
                <a:latin typeface="Arial Black" pitchFamily="34" charset="0"/>
                <a:ea typeface="Arial Black" pitchFamily="34" charset="-122"/>
                <a:cs typeface="Arial Black" pitchFamily="34" charset="-120"/>
              </a:rPr>
              <a:t>Vzpon</a:t>
            </a:r>
            <a:endParaRPr lang="en-US" sz="7200" dirty="0"/>
          </a:p>
        </p:txBody>
      </p:sp>
      <p:sp>
        <p:nvSpPr>
          <p:cNvPr id="6" name="Text 4"/>
          <p:cNvSpPr/>
          <p:nvPr/>
        </p:nvSpPr>
        <p:spPr>
          <a:xfrm>
            <a:off x="822960" y="3611880"/>
            <a:ext cx="10515600" cy="731520"/>
          </a:xfrm>
          <a:prstGeom prst="rect">
            <a:avLst/>
          </a:prstGeom>
          <a:noFill/>
          <a:ln/>
        </p:spPr>
        <p:txBody>
          <a:bodyPr wrap="square" rtlCol="0" anchor="ctr"/>
          <a:lstStyle/>
          <a:p>
            <a:pPr indent="0" marL="0">
              <a:buNone/>
            </a:pPr>
            <a:r>
              <a:rPr lang="en-US" sz="2600" dirty="0">
                <a:solidFill>
                  <a:srgbClr val="9AA7AE"/>
                </a:solidFill>
                <a:latin typeface="Calibri" pitchFamily="34" charset="0"/>
                <a:ea typeface="Calibri" pitchFamily="34" charset="-122"/>
                <a:cs typeface="Calibri" pitchFamily="34" charset="-120"/>
              </a:rPr>
              <a:t>Zgodba Šoštanjske elektrarne</a:t>
            </a:r>
            <a:endParaRPr lang="en-US" sz="2600" dirty="0"/>
          </a:p>
        </p:txBody>
      </p:sp>
      <p:sp>
        <p:nvSpPr>
          <p:cNvPr id="7" name="Text 5"/>
          <p:cNvSpPr/>
          <p:nvPr/>
        </p:nvSpPr>
        <p:spPr>
          <a:xfrm>
            <a:off x="822960" y="5943600"/>
            <a:ext cx="10515600" cy="457200"/>
          </a:xfrm>
          <a:prstGeom prst="rect">
            <a:avLst/>
          </a:prstGeom>
          <a:noFill/>
          <a:ln/>
        </p:spPr>
        <p:txBody>
          <a:bodyPr wrap="square" rtlCol="0" anchor="ctr"/>
          <a:lstStyle/>
          <a:p>
            <a:pPr indent="0" marL="0">
              <a:buNone/>
            </a:pPr>
            <a:r>
              <a:rPr lang="en-US" sz="1300" dirty="0">
                <a:solidFill>
                  <a:srgbClr val="9AA7AE"/>
                </a:solidFill>
                <a:latin typeface="Consolas" pitchFamily="34" charset="0"/>
                <a:ea typeface="Consolas" pitchFamily="34" charset="-122"/>
                <a:cs typeface="Consolas" pitchFamily="34" charset="-120"/>
              </a:rPr>
              <a:t>Matevž Tasic  ·  Mentor: Rok Urbanc  ·  github.com/matevztasic/NOR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81D"/>
        </a:solidFill>
      </p:bgPr>
    </p:bg>
    <p:spTree>
      <p:nvGrpSpPr>
        <p:cNvPr id="1" name=""/>
        <p:cNvGrpSpPr/>
        <p:nvPr/>
      </p:nvGrpSpPr>
      <p:grpSpPr>
        <a:xfrm>
          <a:off x="0" y="0"/>
          <a:ext cx="0" cy="0"/>
          <a:chOff x="0" y="0"/>
          <a:chExt cx="0" cy="0"/>
        </a:xfrm>
      </p:grpSpPr>
      <p:sp>
        <p:nvSpPr>
          <p:cNvPr id="2" name="Text 0"/>
          <p:cNvSpPr/>
          <p:nvPr/>
        </p:nvSpPr>
        <p:spPr>
          <a:xfrm>
            <a:off x="640080" y="384048"/>
            <a:ext cx="10911535" cy="320040"/>
          </a:xfrm>
          <a:prstGeom prst="rect">
            <a:avLst/>
          </a:prstGeom>
          <a:noFill/>
          <a:ln/>
        </p:spPr>
        <p:txBody>
          <a:bodyPr wrap="square" rtlCol="0" anchor="ctr"/>
          <a:lstStyle/>
          <a:p>
            <a:pPr indent="0" marL="0">
              <a:buNone/>
            </a:pPr>
            <a:r>
              <a:rPr lang="en-US" sz="1300" b="1" spc="200" kern="0" dirty="0">
                <a:solidFill>
                  <a:srgbClr val="FF7A3D"/>
                </a:solidFill>
                <a:latin typeface="Consolas" pitchFamily="34" charset="0"/>
                <a:ea typeface="Consolas" pitchFamily="34" charset="-122"/>
                <a:cs typeface="Consolas" pitchFamily="34" charset="-120"/>
              </a:rPr>
              <a:t>KRITERIJ 1 / 5 — PROBLEM</a:t>
            </a:r>
            <a:endParaRPr lang="en-US" sz="1300" dirty="0"/>
          </a:p>
        </p:txBody>
      </p:sp>
      <p:sp>
        <p:nvSpPr>
          <p:cNvPr id="3" name="Text 1"/>
          <p:cNvSpPr/>
          <p:nvPr/>
        </p:nvSpPr>
        <p:spPr>
          <a:xfrm>
            <a:off x="640080" y="658368"/>
            <a:ext cx="10911535" cy="822960"/>
          </a:xfrm>
          <a:prstGeom prst="rect">
            <a:avLst/>
          </a:prstGeom>
          <a:noFill/>
          <a:ln/>
        </p:spPr>
        <p:txBody>
          <a:bodyPr wrap="square" rtlCol="0" anchor="ctr"/>
          <a:lstStyle/>
          <a:p>
            <a:pPr indent="0" marL="0">
              <a:buNone/>
            </a:pPr>
            <a:r>
              <a:rPr lang="en-US" sz="3000" b="1" dirty="0">
                <a:solidFill>
                  <a:srgbClr val="EEF1F0"/>
                </a:solidFill>
                <a:latin typeface="Arial Black" pitchFamily="34" charset="0"/>
                <a:ea typeface="Arial Black" pitchFamily="34" charset="-122"/>
                <a:cs typeface="Arial Black" pitchFamily="34" charset="-120"/>
              </a:rPr>
              <a:t>Nedostopna višina, neopisana zgodovina</a:t>
            </a:r>
            <a:endParaRPr lang="en-US" sz="3000" dirty="0"/>
          </a:p>
        </p:txBody>
      </p:sp>
      <p:sp>
        <p:nvSpPr>
          <p:cNvPr id="4" name="Shape 2"/>
          <p:cNvSpPr/>
          <p:nvPr/>
        </p:nvSpPr>
        <p:spPr>
          <a:xfrm>
            <a:off x="640080" y="1417320"/>
            <a:ext cx="1280160" cy="0"/>
          </a:xfrm>
          <a:prstGeom prst="line">
            <a:avLst/>
          </a:prstGeom>
          <a:noFill/>
          <a:ln w="38100">
            <a:solidFill>
              <a:srgbClr val="FF7A3D"/>
            </a:solidFill>
            <a:prstDash val="solid"/>
          </a:ln>
        </p:spPr>
      </p:sp>
      <p:sp>
        <p:nvSpPr>
          <p:cNvPr id="5" name="Text 3"/>
          <p:cNvSpPr/>
          <p:nvPr/>
        </p:nvSpPr>
        <p:spPr>
          <a:xfrm>
            <a:off x="640080" y="1828800"/>
            <a:ext cx="6858000" cy="2194560"/>
          </a:xfrm>
          <a:prstGeom prst="rect">
            <a:avLst/>
          </a:prstGeom>
          <a:noFill/>
          <a:ln/>
        </p:spPr>
        <p:txBody>
          <a:bodyPr wrap="square" rtlCol="0" anchor="t"/>
          <a:lstStyle/>
          <a:p>
            <a:pPr indent="0" marL="0">
              <a:lnSpc>
                <a:spcPct val="130000"/>
              </a:lnSpc>
              <a:buNone/>
            </a:pPr>
            <a:r>
              <a:rPr lang="en-US" sz="1800" dirty="0">
                <a:solidFill>
                  <a:srgbClr val="EEF1F0"/>
                </a:solidFill>
                <a:latin typeface="Calibri" pitchFamily="34" charset="0"/>
                <a:ea typeface="Calibri" pitchFamily="34" charset="-122"/>
                <a:cs typeface="Calibri" pitchFamily="34" charset="-120"/>
              </a:rPr>
              <a:t>Hladilni stolp in dimnik TEŠ sta iz varnostnih razlogov zaprta za javnost, fizičen vzpon pa je za večino telesno prezahteven ali nevaren. Zgodovina slovenske energetike je predstavljena predvsem na muzejskih tablah — ne kot nekaj, kar bi lahko doživeli.</a:t>
            </a:r>
            <a:endParaRPr lang="en-US" sz="1800" dirty="0"/>
          </a:p>
        </p:txBody>
      </p:sp>
      <p:sp>
        <p:nvSpPr>
          <p:cNvPr id="6" name="Text 4"/>
          <p:cNvSpPr/>
          <p:nvPr/>
        </p:nvSpPr>
        <p:spPr>
          <a:xfrm>
            <a:off x="640080" y="4160520"/>
            <a:ext cx="6858000" cy="1097280"/>
          </a:xfrm>
          <a:prstGeom prst="rect">
            <a:avLst/>
          </a:prstGeom>
          <a:noFill/>
          <a:ln/>
        </p:spPr>
        <p:txBody>
          <a:bodyPr wrap="square" rtlCol="0" anchor="t"/>
          <a:lstStyle/>
          <a:p>
            <a:pPr indent="0" marL="0">
              <a:lnSpc>
                <a:spcPct val="125000"/>
              </a:lnSpc>
              <a:buNone/>
            </a:pPr>
            <a:r>
              <a:rPr lang="en-US" sz="1500" i="1" dirty="0">
                <a:solidFill>
                  <a:srgbClr val="FF7A3D"/>
                </a:solidFill>
                <a:latin typeface="Calibri" pitchFamily="34" charset="0"/>
                <a:ea typeface="Calibri" pitchFamily="34" charset="-122"/>
                <a:cs typeface="Calibri" pitchFamily="34" charset="-120"/>
              </a:rPr>
              <a:t>Rešitev: varen, a vizualno in telesno prepričljiv navidezni vzpon po elektrarni, med katerim uporabnik spoznava njeno zgodovino.</a:t>
            </a:r>
            <a:endParaRPr lang="en-US" sz="1500" dirty="0"/>
          </a:p>
        </p:txBody>
      </p:sp>
      <p:sp>
        <p:nvSpPr>
          <p:cNvPr id="7" name="Shape 5"/>
          <p:cNvSpPr/>
          <p:nvPr/>
        </p:nvSpPr>
        <p:spPr>
          <a:xfrm>
            <a:off x="7955280" y="1828800"/>
            <a:ext cx="3566160" cy="1005840"/>
          </a:xfrm>
          <a:prstGeom prst="rect">
            <a:avLst/>
          </a:prstGeom>
          <a:solidFill>
            <a:srgbClr val="1B2127"/>
          </a:solidFill>
          <a:ln w="12700">
            <a:solidFill>
              <a:srgbClr val="323C44"/>
            </a:solidFill>
            <a:prstDash val="solid"/>
          </a:ln>
        </p:spPr>
      </p:sp>
      <p:sp>
        <p:nvSpPr>
          <p:cNvPr id="8" name="Shape 6"/>
          <p:cNvSpPr/>
          <p:nvPr/>
        </p:nvSpPr>
        <p:spPr>
          <a:xfrm>
            <a:off x="7955280" y="1828800"/>
            <a:ext cx="54864" cy="1005840"/>
          </a:xfrm>
          <a:prstGeom prst="rect">
            <a:avLst/>
          </a:prstGeom>
          <a:solidFill>
            <a:srgbClr val="FF7A3D"/>
          </a:solidFill>
          <a:ln/>
        </p:spPr>
      </p:sp>
      <p:sp>
        <p:nvSpPr>
          <p:cNvPr id="9" name="Text 7"/>
          <p:cNvSpPr/>
          <p:nvPr/>
        </p:nvSpPr>
        <p:spPr>
          <a:xfrm>
            <a:off x="8183880" y="1901952"/>
            <a:ext cx="3200400" cy="502920"/>
          </a:xfrm>
          <a:prstGeom prst="rect">
            <a:avLst/>
          </a:prstGeom>
          <a:noFill/>
          <a:ln/>
        </p:spPr>
        <p:txBody>
          <a:bodyPr wrap="square" rtlCol="0" anchor="ctr"/>
          <a:lstStyle/>
          <a:p>
            <a:pPr indent="0" marL="0">
              <a:buNone/>
            </a:pPr>
            <a:r>
              <a:rPr lang="en-US" sz="2600" b="1" dirty="0">
                <a:solidFill>
                  <a:srgbClr val="EEF1F0"/>
                </a:solidFill>
                <a:latin typeface="Arial Black" pitchFamily="34" charset="0"/>
                <a:ea typeface="Arial Black" pitchFamily="34" charset="-122"/>
                <a:cs typeface="Arial Black" pitchFamily="34" charset="-120"/>
              </a:rPr>
              <a:t>164 m</a:t>
            </a:r>
            <a:endParaRPr lang="en-US" sz="2600" dirty="0"/>
          </a:p>
        </p:txBody>
      </p:sp>
      <p:sp>
        <p:nvSpPr>
          <p:cNvPr id="10" name="Text 8"/>
          <p:cNvSpPr/>
          <p:nvPr/>
        </p:nvSpPr>
        <p:spPr>
          <a:xfrm>
            <a:off x="8183880" y="2423160"/>
            <a:ext cx="3200400" cy="365760"/>
          </a:xfrm>
          <a:prstGeom prst="rect">
            <a:avLst/>
          </a:prstGeom>
          <a:noFill/>
          <a:ln/>
        </p:spPr>
        <p:txBody>
          <a:bodyPr wrap="square" rtlCol="0" anchor="ctr"/>
          <a:lstStyle/>
          <a:p>
            <a:pPr indent="0" marL="0">
              <a:buNone/>
            </a:pPr>
            <a:r>
              <a:rPr lang="en-US" sz="1100" dirty="0">
                <a:solidFill>
                  <a:srgbClr val="9AA7AE"/>
                </a:solidFill>
                <a:latin typeface="Calibri" pitchFamily="34" charset="0"/>
                <a:ea typeface="Calibri" pitchFamily="34" charset="-122"/>
                <a:cs typeface="Calibri" pitchFamily="34" charset="-120"/>
              </a:rPr>
              <a:t>višina hladilnega stolpa TEŠ 6</a:t>
            </a:r>
            <a:endParaRPr lang="en-US" sz="1100" dirty="0"/>
          </a:p>
        </p:txBody>
      </p:sp>
      <p:sp>
        <p:nvSpPr>
          <p:cNvPr id="11" name="Shape 9"/>
          <p:cNvSpPr/>
          <p:nvPr/>
        </p:nvSpPr>
        <p:spPr>
          <a:xfrm>
            <a:off x="7955280" y="3063240"/>
            <a:ext cx="3566160" cy="1005840"/>
          </a:xfrm>
          <a:prstGeom prst="rect">
            <a:avLst/>
          </a:prstGeom>
          <a:solidFill>
            <a:srgbClr val="1B2127"/>
          </a:solidFill>
          <a:ln w="12700">
            <a:solidFill>
              <a:srgbClr val="323C44"/>
            </a:solidFill>
            <a:prstDash val="solid"/>
          </a:ln>
        </p:spPr>
      </p:sp>
      <p:sp>
        <p:nvSpPr>
          <p:cNvPr id="12" name="Shape 10"/>
          <p:cNvSpPr/>
          <p:nvPr/>
        </p:nvSpPr>
        <p:spPr>
          <a:xfrm>
            <a:off x="7955280" y="3063240"/>
            <a:ext cx="54864" cy="1005840"/>
          </a:xfrm>
          <a:prstGeom prst="rect">
            <a:avLst/>
          </a:prstGeom>
          <a:solidFill>
            <a:srgbClr val="FF7A3D"/>
          </a:solidFill>
          <a:ln/>
        </p:spPr>
      </p:sp>
      <p:sp>
        <p:nvSpPr>
          <p:cNvPr id="13" name="Text 11"/>
          <p:cNvSpPr/>
          <p:nvPr/>
        </p:nvSpPr>
        <p:spPr>
          <a:xfrm>
            <a:off x="8183880" y="3136392"/>
            <a:ext cx="3200400" cy="502920"/>
          </a:xfrm>
          <a:prstGeom prst="rect">
            <a:avLst/>
          </a:prstGeom>
          <a:noFill/>
          <a:ln/>
        </p:spPr>
        <p:txBody>
          <a:bodyPr wrap="square" rtlCol="0" anchor="ctr"/>
          <a:lstStyle/>
          <a:p>
            <a:pPr indent="0" marL="0">
              <a:buNone/>
            </a:pPr>
            <a:r>
              <a:rPr lang="en-US" sz="2600" b="1" dirty="0">
                <a:solidFill>
                  <a:srgbClr val="EEF1F0"/>
                </a:solidFill>
                <a:latin typeface="Arial Black" pitchFamily="34" charset="0"/>
                <a:ea typeface="Arial Black" pitchFamily="34" charset="-122"/>
                <a:cs typeface="Arial Black" pitchFamily="34" charset="-120"/>
              </a:rPr>
              <a:t>100 m</a:t>
            </a:r>
            <a:endParaRPr lang="en-US" sz="2600" dirty="0"/>
          </a:p>
        </p:txBody>
      </p:sp>
      <p:sp>
        <p:nvSpPr>
          <p:cNvPr id="14" name="Text 12"/>
          <p:cNvSpPr/>
          <p:nvPr/>
        </p:nvSpPr>
        <p:spPr>
          <a:xfrm>
            <a:off x="8183880" y="3657600"/>
            <a:ext cx="3200400" cy="365760"/>
          </a:xfrm>
          <a:prstGeom prst="rect">
            <a:avLst/>
          </a:prstGeom>
          <a:noFill/>
          <a:ln/>
        </p:spPr>
        <p:txBody>
          <a:bodyPr wrap="square" rtlCol="0" anchor="ctr"/>
          <a:lstStyle/>
          <a:p>
            <a:pPr indent="0" marL="0">
              <a:buNone/>
            </a:pPr>
            <a:r>
              <a:rPr lang="en-US" sz="1100" dirty="0">
                <a:solidFill>
                  <a:srgbClr val="9AA7AE"/>
                </a:solidFill>
                <a:latin typeface="Calibri" pitchFamily="34" charset="0"/>
                <a:ea typeface="Calibri" pitchFamily="34" charset="-122"/>
                <a:cs typeface="Calibri" pitchFamily="34" charset="-120"/>
              </a:rPr>
              <a:t>premer stolpa ob vznožju</a:t>
            </a:r>
            <a:endParaRPr lang="en-US" sz="1100" dirty="0"/>
          </a:p>
        </p:txBody>
      </p:sp>
      <p:sp>
        <p:nvSpPr>
          <p:cNvPr id="15" name="Shape 13"/>
          <p:cNvSpPr/>
          <p:nvPr/>
        </p:nvSpPr>
        <p:spPr>
          <a:xfrm>
            <a:off x="7955280" y="4297680"/>
            <a:ext cx="3566160" cy="1005840"/>
          </a:xfrm>
          <a:prstGeom prst="rect">
            <a:avLst/>
          </a:prstGeom>
          <a:solidFill>
            <a:srgbClr val="1B2127"/>
          </a:solidFill>
          <a:ln w="12700">
            <a:solidFill>
              <a:srgbClr val="323C44"/>
            </a:solidFill>
            <a:prstDash val="solid"/>
          </a:ln>
        </p:spPr>
      </p:sp>
      <p:sp>
        <p:nvSpPr>
          <p:cNvPr id="16" name="Shape 14"/>
          <p:cNvSpPr/>
          <p:nvPr/>
        </p:nvSpPr>
        <p:spPr>
          <a:xfrm>
            <a:off x="7955280" y="4297680"/>
            <a:ext cx="54864" cy="1005840"/>
          </a:xfrm>
          <a:prstGeom prst="rect">
            <a:avLst/>
          </a:prstGeom>
          <a:solidFill>
            <a:srgbClr val="FF7A3D"/>
          </a:solidFill>
          <a:ln/>
        </p:spPr>
      </p:sp>
      <p:sp>
        <p:nvSpPr>
          <p:cNvPr id="17" name="Text 15"/>
          <p:cNvSpPr/>
          <p:nvPr/>
        </p:nvSpPr>
        <p:spPr>
          <a:xfrm>
            <a:off x="8183880" y="4370832"/>
            <a:ext cx="3200400" cy="502920"/>
          </a:xfrm>
          <a:prstGeom prst="rect">
            <a:avLst/>
          </a:prstGeom>
          <a:noFill/>
          <a:ln/>
        </p:spPr>
        <p:txBody>
          <a:bodyPr wrap="square" rtlCol="0" anchor="ctr"/>
          <a:lstStyle/>
          <a:p>
            <a:pPr indent="0" marL="0">
              <a:buNone/>
            </a:pPr>
            <a:r>
              <a:rPr lang="en-US" sz="2600" b="1" dirty="0">
                <a:solidFill>
                  <a:srgbClr val="EEF1F0"/>
                </a:solidFill>
                <a:latin typeface="Arial Black" pitchFamily="34" charset="0"/>
                <a:ea typeface="Arial Black" pitchFamily="34" charset="-122"/>
                <a:cs typeface="Arial Black" pitchFamily="34" charset="-120"/>
              </a:rPr>
              <a:t>18 cm</a:t>
            </a:r>
            <a:endParaRPr lang="en-US" sz="2600" dirty="0"/>
          </a:p>
        </p:txBody>
      </p:sp>
      <p:sp>
        <p:nvSpPr>
          <p:cNvPr id="18" name="Text 16"/>
          <p:cNvSpPr/>
          <p:nvPr/>
        </p:nvSpPr>
        <p:spPr>
          <a:xfrm>
            <a:off x="8183880" y="4892040"/>
            <a:ext cx="3200400" cy="365760"/>
          </a:xfrm>
          <a:prstGeom prst="rect">
            <a:avLst/>
          </a:prstGeom>
          <a:noFill/>
          <a:ln/>
        </p:spPr>
        <p:txBody>
          <a:bodyPr wrap="square" rtlCol="0" anchor="ctr"/>
          <a:lstStyle/>
          <a:p>
            <a:pPr indent="0" marL="0">
              <a:buNone/>
            </a:pPr>
            <a:r>
              <a:rPr lang="en-US" sz="1100" dirty="0">
                <a:solidFill>
                  <a:srgbClr val="9AA7AE"/>
                </a:solidFill>
                <a:latin typeface="Calibri" pitchFamily="34" charset="0"/>
                <a:ea typeface="Calibri" pitchFamily="34" charset="-122"/>
                <a:cs typeface="Calibri" pitchFamily="34" charset="-120"/>
              </a:rPr>
              <a:t>debelina stene lupine</a:t>
            </a:r>
            <a:endParaRPr lang="en-US" sz="1100" dirty="0"/>
          </a:p>
        </p:txBody>
      </p:sp>
      <p:sp>
        <p:nvSpPr>
          <p:cNvPr id="20" name="Text 17"/>
          <p:cNvSpPr/>
          <p:nvPr/>
        </p:nvSpPr>
        <p:spPr>
          <a:xfrm>
            <a:off x="640080" y="6400800"/>
            <a:ext cx="7315200" cy="274320"/>
          </a:xfrm>
          <a:prstGeom prst="rect">
            <a:avLst/>
          </a:prstGeom>
          <a:noFill/>
          <a:ln/>
        </p:spPr>
        <p:txBody>
          <a:bodyPr wrap="square" rtlCol="0" anchor="ctr"/>
          <a:lstStyle/>
          <a:p>
            <a:pPr indent="0" marL="0">
              <a:buNone/>
            </a:pPr>
            <a:r>
              <a:rPr lang="en-US" sz="900" spc="100" kern="0" dirty="0">
                <a:solidFill>
                  <a:srgbClr val="9AA7AE"/>
                </a:solidFill>
                <a:latin typeface="Consolas" pitchFamily="34" charset="0"/>
                <a:ea typeface="Consolas" pitchFamily="34" charset="-122"/>
                <a:cs typeface="Consolas" pitchFamily="34" charset="-120"/>
              </a:rPr>
              <a:t>VZPON — ZGODBA ŠOŠTANJSKE ELEKTRARNE</a:t>
            </a:r>
            <a:endParaRPr lang="en-US" sz="900" dirty="0"/>
          </a:p>
        </p:txBody>
      </p:sp>
      <p:sp>
        <p:nvSpPr>
          <p:cNvPr id="21" name="Text 18"/>
          <p:cNvSpPr/>
          <p:nvPr/>
        </p:nvSpPr>
        <p:spPr>
          <a:xfrm>
            <a:off x="7894015" y="6400800"/>
            <a:ext cx="3657600" cy="274320"/>
          </a:xfrm>
          <a:prstGeom prst="rect">
            <a:avLst/>
          </a:prstGeom>
          <a:noFill/>
          <a:ln/>
        </p:spPr>
        <p:txBody>
          <a:bodyPr wrap="square" rtlCol="0" anchor="ctr"/>
          <a:lstStyle/>
          <a:p>
            <a:pPr algn="r" indent="0" marL="0">
              <a:buNone/>
            </a:pPr>
            <a:r>
              <a:rPr lang="en-US" sz="900" dirty="0">
                <a:solidFill>
                  <a:srgbClr val="9AA7AE"/>
                </a:solidFill>
                <a:latin typeface="Consolas" pitchFamily="34" charset="0"/>
                <a:ea typeface="Consolas" pitchFamily="34" charset="-122"/>
                <a:cs typeface="Consolas"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81D"/>
        </a:solidFill>
      </p:bgPr>
    </p:bg>
    <p:spTree>
      <p:nvGrpSpPr>
        <p:cNvPr id="1" name=""/>
        <p:cNvGrpSpPr/>
        <p:nvPr/>
      </p:nvGrpSpPr>
      <p:grpSpPr>
        <a:xfrm>
          <a:off x="0" y="0"/>
          <a:ext cx="0" cy="0"/>
          <a:chOff x="0" y="0"/>
          <a:chExt cx="0" cy="0"/>
        </a:xfrm>
      </p:grpSpPr>
      <p:sp>
        <p:nvSpPr>
          <p:cNvPr id="2" name="Text 0"/>
          <p:cNvSpPr/>
          <p:nvPr/>
        </p:nvSpPr>
        <p:spPr>
          <a:xfrm>
            <a:off x="640080" y="384048"/>
            <a:ext cx="10911535" cy="320040"/>
          </a:xfrm>
          <a:prstGeom prst="rect">
            <a:avLst/>
          </a:prstGeom>
          <a:noFill/>
          <a:ln/>
        </p:spPr>
        <p:txBody>
          <a:bodyPr wrap="square" rtlCol="0" anchor="ctr"/>
          <a:lstStyle/>
          <a:p>
            <a:pPr indent="0" marL="0">
              <a:buNone/>
            </a:pPr>
            <a:r>
              <a:rPr lang="en-US" sz="1300" b="1" spc="200" kern="0" dirty="0">
                <a:solidFill>
                  <a:srgbClr val="FF7A3D"/>
                </a:solidFill>
                <a:latin typeface="Consolas" pitchFamily="34" charset="0"/>
                <a:ea typeface="Consolas" pitchFamily="34" charset="-122"/>
                <a:cs typeface="Consolas" pitchFamily="34" charset="-120"/>
              </a:rPr>
              <a:t>KRITERIJ 1 / 5 — PROBLEM</a:t>
            </a:r>
            <a:endParaRPr lang="en-US" sz="1300" dirty="0"/>
          </a:p>
        </p:txBody>
      </p:sp>
      <p:sp>
        <p:nvSpPr>
          <p:cNvPr id="3" name="Text 1"/>
          <p:cNvSpPr/>
          <p:nvPr/>
        </p:nvSpPr>
        <p:spPr>
          <a:xfrm>
            <a:off x="640080" y="658368"/>
            <a:ext cx="10911535" cy="822960"/>
          </a:xfrm>
          <a:prstGeom prst="rect">
            <a:avLst/>
          </a:prstGeom>
          <a:noFill/>
          <a:ln/>
        </p:spPr>
        <p:txBody>
          <a:bodyPr wrap="square" rtlCol="0" anchor="ctr"/>
          <a:lstStyle/>
          <a:p>
            <a:pPr indent="0" marL="0">
              <a:buNone/>
            </a:pPr>
            <a:r>
              <a:rPr lang="en-US" sz="3000" b="1" dirty="0">
                <a:solidFill>
                  <a:srgbClr val="EEF1F0"/>
                </a:solidFill>
                <a:latin typeface="Arial Black" pitchFamily="34" charset="0"/>
                <a:ea typeface="Arial Black" pitchFamily="34" charset="-122"/>
                <a:cs typeface="Arial Black" pitchFamily="34" charset="-120"/>
              </a:rPr>
              <a:t>Za koga je aplikacija namenjena</a:t>
            </a:r>
            <a:endParaRPr lang="en-US" sz="3000" dirty="0"/>
          </a:p>
        </p:txBody>
      </p:sp>
      <p:sp>
        <p:nvSpPr>
          <p:cNvPr id="4" name="Shape 2"/>
          <p:cNvSpPr/>
          <p:nvPr/>
        </p:nvSpPr>
        <p:spPr>
          <a:xfrm>
            <a:off x="640080" y="1417320"/>
            <a:ext cx="1280160" cy="0"/>
          </a:xfrm>
          <a:prstGeom prst="line">
            <a:avLst/>
          </a:prstGeom>
          <a:noFill/>
          <a:ln w="38100">
            <a:solidFill>
              <a:srgbClr val="FF7A3D"/>
            </a:solidFill>
            <a:prstDash val="solid"/>
          </a:ln>
        </p:spPr>
      </p:sp>
      <p:sp>
        <p:nvSpPr>
          <p:cNvPr id="5" name="Shape 3"/>
          <p:cNvSpPr/>
          <p:nvPr/>
        </p:nvSpPr>
        <p:spPr>
          <a:xfrm>
            <a:off x="640080" y="1874520"/>
            <a:ext cx="5120640" cy="1828800"/>
          </a:xfrm>
          <a:prstGeom prst="roundRect">
            <a:avLst>
              <a:gd name="adj" fmla="val 3000"/>
            </a:avLst>
          </a:prstGeom>
          <a:solidFill>
            <a:srgbClr val="1B2127"/>
          </a:solidFill>
          <a:ln w="12700">
            <a:solidFill>
              <a:srgbClr val="323C44"/>
            </a:solidFill>
            <a:prstDash val="solid"/>
          </a:ln>
        </p:spPr>
      </p:sp>
      <p:sp>
        <p:nvSpPr>
          <p:cNvPr id="6" name="Text 4"/>
          <p:cNvSpPr/>
          <p:nvPr/>
        </p:nvSpPr>
        <p:spPr>
          <a:xfrm>
            <a:off x="868680" y="2057400"/>
            <a:ext cx="822960" cy="82296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7" name="Text 5"/>
          <p:cNvSpPr/>
          <p:nvPr/>
        </p:nvSpPr>
        <p:spPr>
          <a:xfrm>
            <a:off x="1645920" y="2075688"/>
            <a:ext cx="3931920" cy="457200"/>
          </a:xfrm>
          <a:prstGeom prst="rect">
            <a:avLst/>
          </a:prstGeom>
          <a:noFill/>
          <a:ln/>
        </p:spPr>
        <p:txBody>
          <a:bodyPr wrap="square" rtlCol="0" anchor="ctr"/>
          <a:lstStyle/>
          <a:p>
            <a:pPr indent="0" marL="0">
              <a:buNone/>
            </a:pPr>
            <a:r>
              <a:rPr lang="en-US" sz="1700" b="1" dirty="0">
                <a:solidFill>
                  <a:srgbClr val="EEF1F0"/>
                </a:solidFill>
                <a:latin typeface="Arial Black" pitchFamily="34" charset="0"/>
                <a:ea typeface="Arial Black" pitchFamily="34" charset="-122"/>
                <a:cs typeface="Arial Black" pitchFamily="34" charset="-120"/>
              </a:rPr>
              <a:t>Šole</a:t>
            </a:r>
            <a:endParaRPr lang="en-US" sz="1700" dirty="0"/>
          </a:p>
        </p:txBody>
      </p:sp>
      <p:sp>
        <p:nvSpPr>
          <p:cNvPr id="8" name="Text 6"/>
          <p:cNvSpPr/>
          <p:nvPr/>
        </p:nvSpPr>
        <p:spPr>
          <a:xfrm>
            <a:off x="1645920" y="2532888"/>
            <a:ext cx="3931920" cy="1051560"/>
          </a:xfrm>
          <a:prstGeom prst="rect">
            <a:avLst/>
          </a:prstGeom>
          <a:noFill/>
          <a:ln/>
        </p:spPr>
        <p:txBody>
          <a:bodyPr wrap="square" rtlCol="0" anchor="t"/>
          <a:lstStyle/>
          <a:p>
            <a:pPr indent="0" marL="0">
              <a:lnSpc>
                <a:spcPct val="120000"/>
              </a:lnSpc>
              <a:buNone/>
            </a:pPr>
            <a:r>
              <a:rPr lang="en-US" sz="1250" dirty="0">
                <a:solidFill>
                  <a:srgbClr val="9AA7AE"/>
                </a:solidFill>
                <a:latin typeface="Calibri" pitchFamily="34" charset="0"/>
                <a:ea typeface="Calibri" pitchFamily="34" charset="-122"/>
                <a:cs typeface="Calibri" pitchFamily="34" charset="-120"/>
              </a:rPr>
              <a:t>osnovnošolci, srednješolci in študenti pri urah tehnike, zgodovine ali energetike</a:t>
            </a:r>
            <a:endParaRPr lang="en-US" sz="1250" dirty="0"/>
          </a:p>
        </p:txBody>
      </p:sp>
      <p:sp>
        <p:nvSpPr>
          <p:cNvPr id="9" name="Shape 7"/>
          <p:cNvSpPr/>
          <p:nvPr/>
        </p:nvSpPr>
        <p:spPr>
          <a:xfrm>
            <a:off x="6126480" y="1874520"/>
            <a:ext cx="5120640" cy="1828800"/>
          </a:xfrm>
          <a:prstGeom prst="roundRect">
            <a:avLst>
              <a:gd name="adj" fmla="val 3000"/>
            </a:avLst>
          </a:prstGeom>
          <a:solidFill>
            <a:srgbClr val="1B2127"/>
          </a:solidFill>
          <a:ln w="12700">
            <a:solidFill>
              <a:srgbClr val="323C44"/>
            </a:solidFill>
            <a:prstDash val="solid"/>
          </a:ln>
        </p:spPr>
      </p:sp>
      <p:sp>
        <p:nvSpPr>
          <p:cNvPr id="10" name="Text 8"/>
          <p:cNvSpPr/>
          <p:nvPr/>
        </p:nvSpPr>
        <p:spPr>
          <a:xfrm>
            <a:off x="6355080" y="2057400"/>
            <a:ext cx="822960" cy="82296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11" name="Text 9"/>
          <p:cNvSpPr/>
          <p:nvPr/>
        </p:nvSpPr>
        <p:spPr>
          <a:xfrm>
            <a:off x="7132320" y="2075688"/>
            <a:ext cx="3931920" cy="457200"/>
          </a:xfrm>
          <a:prstGeom prst="rect">
            <a:avLst/>
          </a:prstGeom>
          <a:noFill/>
          <a:ln/>
        </p:spPr>
        <p:txBody>
          <a:bodyPr wrap="square" rtlCol="0" anchor="ctr"/>
          <a:lstStyle/>
          <a:p>
            <a:pPr indent="0" marL="0">
              <a:buNone/>
            </a:pPr>
            <a:r>
              <a:rPr lang="en-US" sz="1700" b="1" dirty="0">
                <a:solidFill>
                  <a:srgbClr val="EEF1F0"/>
                </a:solidFill>
                <a:latin typeface="Arial Black" pitchFamily="34" charset="0"/>
                <a:ea typeface="Arial Black" pitchFamily="34" charset="-122"/>
                <a:cs typeface="Arial Black" pitchFamily="34" charset="-120"/>
              </a:rPr>
              <a:t>Turisti</a:t>
            </a:r>
            <a:endParaRPr lang="en-US" sz="1700" dirty="0"/>
          </a:p>
        </p:txBody>
      </p:sp>
      <p:sp>
        <p:nvSpPr>
          <p:cNvPr id="12" name="Text 10"/>
          <p:cNvSpPr/>
          <p:nvPr/>
        </p:nvSpPr>
        <p:spPr>
          <a:xfrm>
            <a:off x="7132320" y="2532888"/>
            <a:ext cx="3931920" cy="1051560"/>
          </a:xfrm>
          <a:prstGeom prst="rect">
            <a:avLst/>
          </a:prstGeom>
          <a:noFill/>
          <a:ln/>
        </p:spPr>
        <p:txBody>
          <a:bodyPr wrap="square" rtlCol="0" anchor="t"/>
          <a:lstStyle/>
          <a:p>
            <a:pPr indent="0" marL="0">
              <a:lnSpc>
                <a:spcPct val="120000"/>
              </a:lnSpc>
              <a:buNone/>
            </a:pPr>
            <a:r>
              <a:rPr lang="en-US" sz="1250" dirty="0">
                <a:solidFill>
                  <a:srgbClr val="9AA7AE"/>
                </a:solidFill>
                <a:latin typeface="Calibri" pitchFamily="34" charset="0"/>
                <a:ea typeface="Calibri" pitchFamily="34" charset="-122"/>
                <a:cs typeface="Calibri" pitchFamily="34" charset="-120"/>
              </a:rPr>
              <a:t>obiskovalci Šaleške doline, ki jih zanima industrijska dediščina</a:t>
            </a:r>
            <a:endParaRPr lang="en-US" sz="1250" dirty="0"/>
          </a:p>
        </p:txBody>
      </p:sp>
      <p:sp>
        <p:nvSpPr>
          <p:cNvPr id="13" name="Shape 11"/>
          <p:cNvSpPr/>
          <p:nvPr/>
        </p:nvSpPr>
        <p:spPr>
          <a:xfrm>
            <a:off x="640080" y="3977640"/>
            <a:ext cx="5120640" cy="1828800"/>
          </a:xfrm>
          <a:prstGeom prst="roundRect">
            <a:avLst>
              <a:gd name="adj" fmla="val 3000"/>
            </a:avLst>
          </a:prstGeom>
          <a:solidFill>
            <a:srgbClr val="1B2127"/>
          </a:solidFill>
          <a:ln w="12700">
            <a:solidFill>
              <a:srgbClr val="323C44"/>
            </a:solidFill>
            <a:prstDash val="solid"/>
          </a:ln>
        </p:spPr>
      </p:sp>
      <p:sp>
        <p:nvSpPr>
          <p:cNvPr id="14" name="Text 12"/>
          <p:cNvSpPr/>
          <p:nvPr/>
        </p:nvSpPr>
        <p:spPr>
          <a:xfrm>
            <a:off x="868680" y="4160520"/>
            <a:ext cx="822960" cy="82296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15" name="Text 13"/>
          <p:cNvSpPr/>
          <p:nvPr/>
        </p:nvSpPr>
        <p:spPr>
          <a:xfrm>
            <a:off x="1645920" y="4178808"/>
            <a:ext cx="3931920" cy="457200"/>
          </a:xfrm>
          <a:prstGeom prst="rect">
            <a:avLst/>
          </a:prstGeom>
          <a:noFill/>
          <a:ln/>
        </p:spPr>
        <p:txBody>
          <a:bodyPr wrap="square" rtlCol="0" anchor="ctr"/>
          <a:lstStyle/>
          <a:p>
            <a:pPr indent="0" marL="0">
              <a:buNone/>
            </a:pPr>
            <a:r>
              <a:rPr lang="en-US" sz="1700" b="1" dirty="0">
                <a:solidFill>
                  <a:srgbClr val="EEF1F0"/>
                </a:solidFill>
                <a:latin typeface="Arial Black" pitchFamily="34" charset="0"/>
                <a:ea typeface="Arial Black" pitchFamily="34" charset="-122"/>
                <a:cs typeface="Arial Black" pitchFamily="34" charset="-120"/>
              </a:rPr>
              <a:t>Izpostavljenostna terapija</a:t>
            </a:r>
            <a:endParaRPr lang="en-US" sz="1700" dirty="0"/>
          </a:p>
        </p:txBody>
      </p:sp>
      <p:sp>
        <p:nvSpPr>
          <p:cNvPr id="16" name="Text 14"/>
          <p:cNvSpPr/>
          <p:nvPr/>
        </p:nvSpPr>
        <p:spPr>
          <a:xfrm>
            <a:off x="1645920" y="4636008"/>
            <a:ext cx="3931920" cy="1051560"/>
          </a:xfrm>
          <a:prstGeom prst="rect">
            <a:avLst/>
          </a:prstGeom>
          <a:noFill/>
          <a:ln/>
        </p:spPr>
        <p:txBody>
          <a:bodyPr wrap="square" rtlCol="0" anchor="t"/>
          <a:lstStyle/>
          <a:p>
            <a:pPr indent="0" marL="0">
              <a:lnSpc>
                <a:spcPct val="120000"/>
              </a:lnSpc>
              <a:buNone/>
            </a:pPr>
            <a:r>
              <a:rPr lang="en-US" sz="1250" dirty="0">
                <a:solidFill>
                  <a:srgbClr val="9AA7AE"/>
                </a:solidFill>
                <a:latin typeface="Calibri" pitchFamily="34" charset="0"/>
                <a:ea typeface="Calibri" pitchFamily="34" charset="-122"/>
                <a:cs typeface="Calibri" pitchFamily="34" charset="-120"/>
              </a:rPr>
              <a:t>posamezniki s strahom pred višino, postopna izpostavljenost v varnem okolju</a:t>
            </a:r>
            <a:endParaRPr lang="en-US" sz="1250" dirty="0"/>
          </a:p>
        </p:txBody>
      </p:sp>
      <p:sp>
        <p:nvSpPr>
          <p:cNvPr id="17" name="Shape 15"/>
          <p:cNvSpPr/>
          <p:nvPr/>
        </p:nvSpPr>
        <p:spPr>
          <a:xfrm>
            <a:off x="6126480" y="3977640"/>
            <a:ext cx="5120640" cy="1828800"/>
          </a:xfrm>
          <a:prstGeom prst="roundRect">
            <a:avLst>
              <a:gd name="adj" fmla="val 3000"/>
            </a:avLst>
          </a:prstGeom>
          <a:solidFill>
            <a:srgbClr val="1B2127"/>
          </a:solidFill>
          <a:ln w="12700">
            <a:solidFill>
              <a:srgbClr val="323C44"/>
            </a:solidFill>
            <a:prstDash val="solid"/>
          </a:ln>
        </p:spPr>
      </p:sp>
      <p:sp>
        <p:nvSpPr>
          <p:cNvPr id="18" name="Text 16"/>
          <p:cNvSpPr/>
          <p:nvPr/>
        </p:nvSpPr>
        <p:spPr>
          <a:xfrm>
            <a:off x="6355080" y="4160520"/>
            <a:ext cx="822960" cy="82296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19" name="Text 17"/>
          <p:cNvSpPr/>
          <p:nvPr/>
        </p:nvSpPr>
        <p:spPr>
          <a:xfrm>
            <a:off x="7132320" y="4178808"/>
            <a:ext cx="3931920" cy="457200"/>
          </a:xfrm>
          <a:prstGeom prst="rect">
            <a:avLst/>
          </a:prstGeom>
          <a:noFill/>
          <a:ln/>
        </p:spPr>
        <p:txBody>
          <a:bodyPr wrap="square" rtlCol="0" anchor="ctr"/>
          <a:lstStyle/>
          <a:p>
            <a:pPr indent="0" marL="0">
              <a:buNone/>
            </a:pPr>
            <a:r>
              <a:rPr lang="en-US" sz="1700" b="1" dirty="0">
                <a:solidFill>
                  <a:srgbClr val="EEF1F0"/>
                </a:solidFill>
                <a:latin typeface="Arial Black" pitchFamily="34" charset="0"/>
                <a:ea typeface="Arial Black" pitchFamily="34" charset="-122"/>
                <a:cs typeface="Arial Black" pitchFamily="34" charset="-120"/>
              </a:rPr>
              <a:t>Zaposleni TEŠ</a:t>
            </a:r>
            <a:endParaRPr lang="en-US" sz="1700" dirty="0"/>
          </a:p>
        </p:txBody>
      </p:sp>
      <p:sp>
        <p:nvSpPr>
          <p:cNvPr id="20" name="Text 18"/>
          <p:cNvSpPr/>
          <p:nvPr/>
        </p:nvSpPr>
        <p:spPr>
          <a:xfrm>
            <a:off x="7132320" y="4636008"/>
            <a:ext cx="3931920" cy="1051560"/>
          </a:xfrm>
          <a:prstGeom prst="rect">
            <a:avLst/>
          </a:prstGeom>
          <a:noFill/>
          <a:ln/>
        </p:spPr>
        <p:txBody>
          <a:bodyPr wrap="square" rtlCol="0" anchor="t"/>
          <a:lstStyle/>
          <a:p>
            <a:pPr indent="0" marL="0">
              <a:lnSpc>
                <a:spcPct val="120000"/>
              </a:lnSpc>
              <a:buNone/>
            </a:pPr>
            <a:r>
              <a:rPr lang="en-US" sz="1250" dirty="0">
                <a:solidFill>
                  <a:srgbClr val="9AA7AE"/>
                </a:solidFill>
                <a:latin typeface="Calibri" pitchFamily="34" charset="0"/>
                <a:ea typeface="Calibri" pitchFamily="34" charset="-122"/>
                <a:cs typeface="Calibri" pitchFamily="34" charset="-120"/>
              </a:rPr>
              <a:t>uvajanje in orientacija pred delom na višini</a:t>
            </a:r>
            <a:endParaRPr lang="en-US" sz="1250" dirty="0"/>
          </a:p>
        </p:txBody>
      </p:sp>
      <p:sp>
        <p:nvSpPr>
          <p:cNvPr id="22" name="Text 19"/>
          <p:cNvSpPr/>
          <p:nvPr/>
        </p:nvSpPr>
        <p:spPr>
          <a:xfrm>
            <a:off x="640080" y="6400800"/>
            <a:ext cx="7315200" cy="274320"/>
          </a:xfrm>
          <a:prstGeom prst="rect">
            <a:avLst/>
          </a:prstGeom>
          <a:noFill/>
          <a:ln/>
        </p:spPr>
        <p:txBody>
          <a:bodyPr wrap="square" rtlCol="0" anchor="ctr"/>
          <a:lstStyle/>
          <a:p>
            <a:pPr indent="0" marL="0">
              <a:buNone/>
            </a:pPr>
            <a:r>
              <a:rPr lang="en-US" sz="900" spc="100" kern="0" dirty="0">
                <a:solidFill>
                  <a:srgbClr val="9AA7AE"/>
                </a:solidFill>
                <a:latin typeface="Consolas" pitchFamily="34" charset="0"/>
                <a:ea typeface="Consolas" pitchFamily="34" charset="-122"/>
                <a:cs typeface="Consolas" pitchFamily="34" charset="-120"/>
              </a:rPr>
              <a:t>VZPON — ZGODBA ŠOŠTANJSKE ELEKTRARNE</a:t>
            </a:r>
            <a:endParaRPr lang="en-US" sz="900" dirty="0"/>
          </a:p>
        </p:txBody>
      </p:sp>
      <p:sp>
        <p:nvSpPr>
          <p:cNvPr id="23" name="Text 20"/>
          <p:cNvSpPr/>
          <p:nvPr/>
        </p:nvSpPr>
        <p:spPr>
          <a:xfrm>
            <a:off x="7894015" y="6400800"/>
            <a:ext cx="3657600" cy="274320"/>
          </a:xfrm>
          <a:prstGeom prst="rect">
            <a:avLst/>
          </a:prstGeom>
          <a:noFill/>
          <a:ln/>
        </p:spPr>
        <p:txBody>
          <a:bodyPr wrap="square" rtlCol="0" anchor="ctr"/>
          <a:lstStyle/>
          <a:p>
            <a:pPr algn="r" indent="0" marL="0">
              <a:buNone/>
            </a:pPr>
            <a:r>
              <a:rPr lang="en-US" sz="900" dirty="0">
                <a:solidFill>
                  <a:srgbClr val="9AA7AE"/>
                </a:solidFill>
                <a:latin typeface="Consolas" pitchFamily="34" charset="0"/>
                <a:ea typeface="Consolas" pitchFamily="34" charset="-122"/>
                <a:cs typeface="Consolas"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1D"/>
        </a:solidFill>
      </p:bgPr>
    </p:bg>
    <p:spTree>
      <p:nvGrpSpPr>
        <p:cNvPr id="1" name=""/>
        <p:cNvGrpSpPr/>
        <p:nvPr/>
      </p:nvGrpSpPr>
      <p:grpSpPr>
        <a:xfrm>
          <a:off x="0" y="0"/>
          <a:ext cx="0" cy="0"/>
          <a:chOff x="0" y="0"/>
          <a:chExt cx="0" cy="0"/>
        </a:xfrm>
      </p:grpSpPr>
      <p:sp>
        <p:nvSpPr>
          <p:cNvPr id="2" name="Text 0"/>
          <p:cNvSpPr/>
          <p:nvPr/>
        </p:nvSpPr>
        <p:spPr>
          <a:xfrm>
            <a:off x="640080" y="384048"/>
            <a:ext cx="10911535" cy="320040"/>
          </a:xfrm>
          <a:prstGeom prst="rect">
            <a:avLst/>
          </a:prstGeom>
          <a:noFill/>
          <a:ln/>
        </p:spPr>
        <p:txBody>
          <a:bodyPr wrap="square" rtlCol="0" anchor="ctr"/>
          <a:lstStyle/>
          <a:p>
            <a:pPr indent="0" marL="0">
              <a:buNone/>
            </a:pPr>
            <a:r>
              <a:rPr lang="en-US" sz="1300" b="1" spc="200" kern="0" dirty="0">
                <a:solidFill>
                  <a:srgbClr val="FF7A3D"/>
                </a:solidFill>
                <a:latin typeface="Consolas" pitchFamily="34" charset="0"/>
                <a:ea typeface="Consolas" pitchFamily="34" charset="-122"/>
                <a:cs typeface="Consolas" pitchFamily="34" charset="-120"/>
              </a:rPr>
              <a:t>KRITERIJ 2 / 5 — VR REŠITEV</a:t>
            </a:r>
            <a:endParaRPr lang="en-US" sz="1300" dirty="0"/>
          </a:p>
        </p:txBody>
      </p:sp>
      <p:sp>
        <p:nvSpPr>
          <p:cNvPr id="3" name="Text 1"/>
          <p:cNvSpPr/>
          <p:nvPr/>
        </p:nvSpPr>
        <p:spPr>
          <a:xfrm>
            <a:off x="640080" y="658368"/>
            <a:ext cx="10911535" cy="822960"/>
          </a:xfrm>
          <a:prstGeom prst="rect">
            <a:avLst/>
          </a:prstGeom>
          <a:noFill/>
          <a:ln/>
        </p:spPr>
        <p:txBody>
          <a:bodyPr wrap="square" rtlCol="0" anchor="ctr"/>
          <a:lstStyle/>
          <a:p>
            <a:pPr indent="0" marL="0">
              <a:buNone/>
            </a:pPr>
            <a:r>
              <a:rPr lang="en-US" sz="3000" b="1" dirty="0">
                <a:solidFill>
                  <a:srgbClr val="EEF1F0"/>
                </a:solidFill>
                <a:latin typeface="Arial Black" pitchFamily="34" charset="0"/>
                <a:ea typeface="Arial Black" pitchFamily="34" charset="-122"/>
                <a:cs typeface="Arial Black" pitchFamily="34" charset="-120"/>
              </a:rPr>
              <a:t>Vzpon skozi čas</a:t>
            </a:r>
            <a:endParaRPr lang="en-US" sz="3000" dirty="0"/>
          </a:p>
        </p:txBody>
      </p:sp>
      <p:sp>
        <p:nvSpPr>
          <p:cNvPr id="4" name="Shape 2"/>
          <p:cNvSpPr/>
          <p:nvPr/>
        </p:nvSpPr>
        <p:spPr>
          <a:xfrm>
            <a:off x="640080" y="1417320"/>
            <a:ext cx="1280160" cy="0"/>
          </a:xfrm>
          <a:prstGeom prst="line">
            <a:avLst/>
          </a:prstGeom>
          <a:noFill/>
          <a:ln w="38100">
            <a:solidFill>
              <a:srgbClr val="FF7A3D"/>
            </a:solidFill>
            <a:prstDash val="solid"/>
          </a:ln>
        </p:spPr>
      </p:sp>
      <p:sp>
        <p:nvSpPr>
          <p:cNvPr id="5" name="Text 3"/>
          <p:cNvSpPr/>
          <p:nvPr/>
        </p:nvSpPr>
        <p:spPr>
          <a:xfrm>
            <a:off x="640080" y="1828800"/>
            <a:ext cx="10881360" cy="1371600"/>
          </a:xfrm>
          <a:prstGeom prst="rect">
            <a:avLst/>
          </a:prstGeom>
          <a:noFill/>
          <a:ln/>
        </p:spPr>
        <p:txBody>
          <a:bodyPr wrap="square" rtlCol="0" anchor="t"/>
          <a:lstStyle/>
          <a:p>
            <a:pPr indent="0" marL="0">
              <a:lnSpc>
                <a:spcPct val="130000"/>
              </a:lnSpc>
              <a:buNone/>
            </a:pPr>
            <a:r>
              <a:rPr lang="en-US" sz="1700" dirty="0">
                <a:solidFill>
                  <a:srgbClr val="EEF1F0"/>
                </a:solidFill>
                <a:latin typeface="Calibri" pitchFamily="34" charset="0"/>
                <a:ea typeface="Calibri" pitchFamily="34" charset="-122"/>
                <a:cs typeface="Calibri" pitchFamily="34" charset="-120"/>
              </a:rPr>
              <a:t>Uporabnik pleza po zunanji konstrukciji elektrarne. Ob kontrolnih točkah se odpre zgodovina gradnje in razvoja TEŠ, na vrhu pa stopi na galerijo okoli odprtega žrela hladilnega stolpa — z razgledom na Šaleško dolino in naravnim učinkom vrtoglavice.</a:t>
            </a:r>
            <a:endParaRPr lang="en-US" sz="1700" dirty="0"/>
          </a:p>
        </p:txBody>
      </p:sp>
      <p:sp>
        <p:nvSpPr>
          <p:cNvPr id="6" name="Shape 4"/>
          <p:cNvSpPr/>
          <p:nvPr/>
        </p:nvSpPr>
        <p:spPr>
          <a:xfrm>
            <a:off x="640080" y="3520440"/>
            <a:ext cx="2697480" cy="2468880"/>
          </a:xfrm>
          <a:prstGeom prst="roundRect">
            <a:avLst>
              <a:gd name="adj" fmla="val 2222"/>
            </a:avLst>
          </a:prstGeom>
          <a:solidFill>
            <a:srgbClr val="1B2127"/>
          </a:solidFill>
          <a:ln w="12700">
            <a:solidFill>
              <a:srgbClr val="323C44"/>
            </a:solidFill>
            <a:prstDash val="solid"/>
          </a:ln>
        </p:spPr>
      </p:sp>
      <p:sp>
        <p:nvSpPr>
          <p:cNvPr id="7" name="Shape 5"/>
          <p:cNvSpPr/>
          <p:nvPr/>
        </p:nvSpPr>
        <p:spPr>
          <a:xfrm>
            <a:off x="841248" y="3721608"/>
            <a:ext cx="457200" cy="457200"/>
          </a:xfrm>
          <a:prstGeom prst="ellipse">
            <a:avLst/>
          </a:prstGeom>
          <a:solidFill>
            <a:srgbClr val="D85F28"/>
          </a:solidFill>
          <a:ln/>
        </p:spPr>
      </p:sp>
      <p:sp>
        <p:nvSpPr>
          <p:cNvPr id="8" name="Text 6"/>
          <p:cNvSpPr/>
          <p:nvPr/>
        </p:nvSpPr>
        <p:spPr>
          <a:xfrm>
            <a:off x="841248" y="3721608"/>
            <a:ext cx="457200" cy="457200"/>
          </a:xfrm>
          <a:prstGeom prst="rect">
            <a:avLst/>
          </a:prstGeom>
          <a:noFill/>
          <a:ln/>
        </p:spPr>
        <p:txBody>
          <a:bodyPr wrap="square" rtlCol="0" anchor="ctr"/>
          <a:lstStyle/>
          <a:p>
            <a:pPr algn="ctr" indent="0" marL="0">
              <a:buNone/>
            </a:pPr>
            <a:r>
              <a:rPr lang="en-US" sz="1800" b="1" dirty="0">
                <a:solidFill>
                  <a:srgbClr val="EEF1F0"/>
                </a:solidFill>
                <a:latin typeface="Arial Black" pitchFamily="34" charset="0"/>
                <a:ea typeface="Arial Black" pitchFamily="34" charset="-122"/>
                <a:cs typeface="Arial Black" pitchFamily="34" charset="-120"/>
              </a:rPr>
              <a:t>1</a:t>
            </a:r>
            <a:endParaRPr lang="en-US" sz="1800" dirty="0"/>
          </a:p>
        </p:txBody>
      </p:sp>
      <p:sp>
        <p:nvSpPr>
          <p:cNvPr id="9" name="Text 7"/>
          <p:cNvSpPr/>
          <p:nvPr/>
        </p:nvSpPr>
        <p:spPr>
          <a:xfrm>
            <a:off x="841248" y="4297680"/>
            <a:ext cx="2295144" cy="365760"/>
          </a:xfrm>
          <a:prstGeom prst="rect">
            <a:avLst/>
          </a:prstGeom>
          <a:noFill/>
          <a:ln/>
        </p:spPr>
        <p:txBody>
          <a:bodyPr wrap="square" rtlCol="0" anchor="ctr"/>
          <a:lstStyle/>
          <a:p>
            <a:pPr indent="0" marL="0">
              <a:buNone/>
            </a:pPr>
            <a:r>
              <a:rPr lang="en-US" sz="1500" b="1" dirty="0">
                <a:solidFill>
                  <a:srgbClr val="EEF1F0"/>
                </a:solidFill>
                <a:latin typeface="Arial Black" pitchFamily="34" charset="0"/>
                <a:ea typeface="Arial Black" pitchFamily="34" charset="-122"/>
                <a:cs typeface="Arial Black" pitchFamily="34" charset="-120"/>
              </a:rPr>
              <a:t>Vznožje</a:t>
            </a:r>
            <a:endParaRPr lang="en-US" sz="1500" dirty="0"/>
          </a:p>
        </p:txBody>
      </p:sp>
      <p:sp>
        <p:nvSpPr>
          <p:cNvPr id="10" name="Text 8"/>
          <p:cNvSpPr/>
          <p:nvPr/>
        </p:nvSpPr>
        <p:spPr>
          <a:xfrm>
            <a:off x="841248" y="4663440"/>
            <a:ext cx="2295144" cy="1188720"/>
          </a:xfrm>
          <a:prstGeom prst="rect">
            <a:avLst/>
          </a:prstGeom>
          <a:noFill/>
          <a:ln/>
        </p:spPr>
        <p:txBody>
          <a:bodyPr wrap="square" rtlCol="0" anchor="t"/>
          <a:lstStyle/>
          <a:p>
            <a:pPr indent="0" marL="0">
              <a:lnSpc>
                <a:spcPct val="120000"/>
              </a:lnSpc>
              <a:buNone/>
            </a:pPr>
            <a:r>
              <a:rPr lang="en-US" sz="1150" dirty="0">
                <a:solidFill>
                  <a:srgbClr val="9AA7AE"/>
                </a:solidFill>
                <a:latin typeface="Calibri" pitchFamily="34" charset="0"/>
                <a:ea typeface="Calibri" pitchFamily="34" charset="-122"/>
                <a:cs typeface="Calibri" pitchFamily="34" charset="-120"/>
              </a:rPr>
              <a:t>Hoja do stolpa, WASD gibanje, prost pogled z miško/glavo</a:t>
            </a:r>
            <a:endParaRPr lang="en-US" sz="1150" dirty="0"/>
          </a:p>
        </p:txBody>
      </p:sp>
      <p:sp>
        <p:nvSpPr>
          <p:cNvPr id="11" name="Text 9"/>
          <p:cNvSpPr/>
          <p:nvPr/>
        </p:nvSpPr>
        <p:spPr>
          <a:xfrm>
            <a:off x="3337560" y="4434840"/>
            <a:ext cx="411480" cy="548640"/>
          </a:xfrm>
          <a:prstGeom prst="rect">
            <a:avLst/>
          </a:prstGeom>
          <a:noFill/>
          <a:ln/>
        </p:spPr>
        <p:txBody>
          <a:bodyPr wrap="square" rtlCol="0" anchor="ctr"/>
          <a:lstStyle/>
          <a:p>
            <a:pPr algn="ctr" indent="0" marL="0">
              <a:buNone/>
            </a:pPr>
            <a:r>
              <a:rPr lang="en-US" sz="1800" b="1" dirty="0">
                <a:solidFill>
                  <a:srgbClr val="FF7A3D"/>
                </a:solidFill>
              </a:rPr>
              <a:t>→</a:t>
            </a:r>
            <a:endParaRPr lang="en-US" sz="1800" dirty="0"/>
          </a:p>
        </p:txBody>
      </p:sp>
      <p:sp>
        <p:nvSpPr>
          <p:cNvPr id="12" name="Shape 10"/>
          <p:cNvSpPr/>
          <p:nvPr/>
        </p:nvSpPr>
        <p:spPr>
          <a:xfrm>
            <a:off x="3474720" y="3520440"/>
            <a:ext cx="2697480" cy="2468880"/>
          </a:xfrm>
          <a:prstGeom prst="roundRect">
            <a:avLst>
              <a:gd name="adj" fmla="val 2222"/>
            </a:avLst>
          </a:prstGeom>
          <a:solidFill>
            <a:srgbClr val="1B2127"/>
          </a:solidFill>
          <a:ln w="12700">
            <a:solidFill>
              <a:srgbClr val="323C44"/>
            </a:solidFill>
            <a:prstDash val="solid"/>
          </a:ln>
        </p:spPr>
      </p:sp>
      <p:sp>
        <p:nvSpPr>
          <p:cNvPr id="13" name="Shape 11"/>
          <p:cNvSpPr/>
          <p:nvPr/>
        </p:nvSpPr>
        <p:spPr>
          <a:xfrm>
            <a:off x="3675888" y="3721608"/>
            <a:ext cx="457200" cy="457200"/>
          </a:xfrm>
          <a:prstGeom prst="ellipse">
            <a:avLst/>
          </a:prstGeom>
          <a:solidFill>
            <a:srgbClr val="D85F28"/>
          </a:solidFill>
          <a:ln/>
        </p:spPr>
      </p:sp>
      <p:sp>
        <p:nvSpPr>
          <p:cNvPr id="14" name="Text 12"/>
          <p:cNvSpPr/>
          <p:nvPr/>
        </p:nvSpPr>
        <p:spPr>
          <a:xfrm>
            <a:off x="3675888" y="3721608"/>
            <a:ext cx="457200" cy="457200"/>
          </a:xfrm>
          <a:prstGeom prst="rect">
            <a:avLst/>
          </a:prstGeom>
          <a:noFill/>
          <a:ln/>
        </p:spPr>
        <p:txBody>
          <a:bodyPr wrap="square" rtlCol="0" anchor="ctr"/>
          <a:lstStyle/>
          <a:p>
            <a:pPr algn="ctr" indent="0" marL="0">
              <a:buNone/>
            </a:pPr>
            <a:r>
              <a:rPr lang="en-US" sz="1800" b="1" dirty="0">
                <a:solidFill>
                  <a:srgbClr val="EEF1F0"/>
                </a:solidFill>
                <a:latin typeface="Arial Black" pitchFamily="34" charset="0"/>
                <a:ea typeface="Arial Black" pitchFamily="34" charset="-122"/>
                <a:cs typeface="Arial Black" pitchFamily="34" charset="-120"/>
              </a:rPr>
              <a:t>2</a:t>
            </a:r>
            <a:endParaRPr lang="en-US" sz="1800" dirty="0"/>
          </a:p>
        </p:txBody>
      </p:sp>
      <p:sp>
        <p:nvSpPr>
          <p:cNvPr id="15" name="Text 13"/>
          <p:cNvSpPr/>
          <p:nvPr/>
        </p:nvSpPr>
        <p:spPr>
          <a:xfrm>
            <a:off x="3675888" y="4297680"/>
            <a:ext cx="2295144" cy="365760"/>
          </a:xfrm>
          <a:prstGeom prst="rect">
            <a:avLst/>
          </a:prstGeom>
          <a:noFill/>
          <a:ln/>
        </p:spPr>
        <p:txBody>
          <a:bodyPr wrap="square" rtlCol="0" anchor="ctr"/>
          <a:lstStyle/>
          <a:p>
            <a:pPr indent="0" marL="0">
              <a:buNone/>
            </a:pPr>
            <a:r>
              <a:rPr lang="en-US" sz="1500" b="1" dirty="0">
                <a:solidFill>
                  <a:srgbClr val="EEF1F0"/>
                </a:solidFill>
                <a:latin typeface="Arial Black" pitchFamily="34" charset="0"/>
                <a:ea typeface="Arial Black" pitchFamily="34" charset="-122"/>
                <a:cs typeface="Arial Black" pitchFamily="34" charset="-120"/>
              </a:rPr>
              <a:t>Plezanje</a:t>
            </a:r>
            <a:endParaRPr lang="en-US" sz="1500" dirty="0"/>
          </a:p>
        </p:txBody>
      </p:sp>
      <p:sp>
        <p:nvSpPr>
          <p:cNvPr id="16" name="Text 14"/>
          <p:cNvSpPr/>
          <p:nvPr/>
        </p:nvSpPr>
        <p:spPr>
          <a:xfrm>
            <a:off x="3675888" y="4663440"/>
            <a:ext cx="2295144" cy="1188720"/>
          </a:xfrm>
          <a:prstGeom prst="rect">
            <a:avLst/>
          </a:prstGeom>
          <a:noFill/>
          <a:ln/>
        </p:spPr>
        <p:txBody>
          <a:bodyPr wrap="square" rtlCol="0" anchor="t"/>
          <a:lstStyle/>
          <a:p>
            <a:pPr indent="0" marL="0">
              <a:lnSpc>
                <a:spcPct val="120000"/>
              </a:lnSpc>
              <a:buNone/>
            </a:pPr>
            <a:r>
              <a:rPr lang="en-US" sz="1150" dirty="0">
                <a:solidFill>
                  <a:srgbClr val="9AA7AE"/>
                </a:solidFill>
                <a:latin typeface="Calibri" pitchFamily="34" charset="0"/>
                <a:ea typeface="Calibri" pitchFamily="34" charset="-122"/>
                <a:cs typeface="Calibri" pitchFamily="34" charset="-120"/>
              </a:rPr>
              <a:t>Prijemanje oprijemov, vzpon ob steni stolpa</a:t>
            </a:r>
            <a:endParaRPr lang="en-US" sz="1150" dirty="0"/>
          </a:p>
        </p:txBody>
      </p:sp>
      <p:sp>
        <p:nvSpPr>
          <p:cNvPr id="17" name="Text 15"/>
          <p:cNvSpPr/>
          <p:nvPr/>
        </p:nvSpPr>
        <p:spPr>
          <a:xfrm>
            <a:off x="6172200" y="4434840"/>
            <a:ext cx="411480" cy="548640"/>
          </a:xfrm>
          <a:prstGeom prst="rect">
            <a:avLst/>
          </a:prstGeom>
          <a:noFill/>
          <a:ln/>
        </p:spPr>
        <p:txBody>
          <a:bodyPr wrap="square" rtlCol="0" anchor="ctr"/>
          <a:lstStyle/>
          <a:p>
            <a:pPr algn="ctr" indent="0" marL="0">
              <a:buNone/>
            </a:pPr>
            <a:r>
              <a:rPr lang="en-US" sz="1800" b="1" dirty="0">
                <a:solidFill>
                  <a:srgbClr val="FF7A3D"/>
                </a:solidFill>
              </a:rPr>
              <a:t>→</a:t>
            </a:r>
            <a:endParaRPr lang="en-US" sz="1800" dirty="0"/>
          </a:p>
        </p:txBody>
      </p:sp>
      <p:sp>
        <p:nvSpPr>
          <p:cNvPr id="18" name="Shape 16"/>
          <p:cNvSpPr/>
          <p:nvPr/>
        </p:nvSpPr>
        <p:spPr>
          <a:xfrm>
            <a:off x="6309360" y="3520440"/>
            <a:ext cx="2697480" cy="2468880"/>
          </a:xfrm>
          <a:prstGeom prst="roundRect">
            <a:avLst>
              <a:gd name="adj" fmla="val 2222"/>
            </a:avLst>
          </a:prstGeom>
          <a:solidFill>
            <a:srgbClr val="1B2127"/>
          </a:solidFill>
          <a:ln w="12700">
            <a:solidFill>
              <a:srgbClr val="323C44"/>
            </a:solidFill>
            <a:prstDash val="solid"/>
          </a:ln>
        </p:spPr>
      </p:sp>
      <p:sp>
        <p:nvSpPr>
          <p:cNvPr id="19" name="Shape 17"/>
          <p:cNvSpPr/>
          <p:nvPr/>
        </p:nvSpPr>
        <p:spPr>
          <a:xfrm>
            <a:off x="6510528" y="3721608"/>
            <a:ext cx="457200" cy="457200"/>
          </a:xfrm>
          <a:prstGeom prst="ellipse">
            <a:avLst/>
          </a:prstGeom>
          <a:solidFill>
            <a:srgbClr val="D85F28"/>
          </a:solidFill>
          <a:ln/>
        </p:spPr>
      </p:sp>
      <p:sp>
        <p:nvSpPr>
          <p:cNvPr id="20" name="Text 18"/>
          <p:cNvSpPr/>
          <p:nvPr/>
        </p:nvSpPr>
        <p:spPr>
          <a:xfrm>
            <a:off x="6510528" y="3721608"/>
            <a:ext cx="457200" cy="457200"/>
          </a:xfrm>
          <a:prstGeom prst="rect">
            <a:avLst/>
          </a:prstGeom>
          <a:noFill/>
          <a:ln/>
        </p:spPr>
        <p:txBody>
          <a:bodyPr wrap="square" rtlCol="0" anchor="ctr"/>
          <a:lstStyle/>
          <a:p>
            <a:pPr algn="ctr" indent="0" marL="0">
              <a:buNone/>
            </a:pPr>
            <a:r>
              <a:rPr lang="en-US" sz="1800" b="1" dirty="0">
                <a:solidFill>
                  <a:srgbClr val="EEF1F0"/>
                </a:solidFill>
                <a:latin typeface="Arial Black" pitchFamily="34" charset="0"/>
                <a:ea typeface="Arial Black" pitchFamily="34" charset="-122"/>
                <a:cs typeface="Arial Black" pitchFamily="34" charset="-120"/>
              </a:rPr>
              <a:t>3</a:t>
            </a:r>
            <a:endParaRPr lang="en-US" sz="1800" dirty="0"/>
          </a:p>
        </p:txBody>
      </p:sp>
      <p:sp>
        <p:nvSpPr>
          <p:cNvPr id="21" name="Text 19"/>
          <p:cNvSpPr/>
          <p:nvPr/>
        </p:nvSpPr>
        <p:spPr>
          <a:xfrm>
            <a:off x="6510528" y="4297680"/>
            <a:ext cx="2295144" cy="365760"/>
          </a:xfrm>
          <a:prstGeom prst="rect">
            <a:avLst/>
          </a:prstGeom>
          <a:noFill/>
          <a:ln/>
        </p:spPr>
        <p:txBody>
          <a:bodyPr wrap="square" rtlCol="0" anchor="ctr"/>
          <a:lstStyle/>
          <a:p>
            <a:pPr indent="0" marL="0">
              <a:buNone/>
            </a:pPr>
            <a:r>
              <a:rPr lang="en-US" sz="1500" b="1" dirty="0">
                <a:solidFill>
                  <a:srgbClr val="EEF1F0"/>
                </a:solidFill>
                <a:latin typeface="Arial Black" pitchFamily="34" charset="0"/>
                <a:ea typeface="Arial Black" pitchFamily="34" charset="-122"/>
                <a:cs typeface="Arial Black" pitchFamily="34" charset="-120"/>
              </a:rPr>
              <a:t>Zgodovina</a:t>
            </a:r>
            <a:endParaRPr lang="en-US" sz="1500" dirty="0"/>
          </a:p>
        </p:txBody>
      </p:sp>
      <p:sp>
        <p:nvSpPr>
          <p:cNvPr id="22" name="Text 20"/>
          <p:cNvSpPr/>
          <p:nvPr/>
        </p:nvSpPr>
        <p:spPr>
          <a:xfrm>
            <a:off x="6510528" y="4663440"/>
            <a:ext cx="2295144" cy="1188720"/>
          </a:xfrm>
          <a:prstGeom prst="rect">
            <a:avLst/>
          </a:prstGeom>
          <a:noFill/>
          <a:ln/>
        </p:spPr>
        <p:txBody>
          <a:bodyPr wrap="square" rtlCol="0" anchor="t"/>
          <a:lstStyle/>
          <a:p>
            <a:pPr indent="0" marL="0">
              <a:lnSpc>
                <a:spcPct val="120000"/>
              </a:lnSpc>
              <a:buNone/>
            </a:pPr>
            <a:r>
              <a:rPr lang="en-US" sz="1150" dirty="0">
                <a:solidFill>
                  <a:srgbClr val="9AA7AE"/>
                </a:solidFill>
                <a:latin typeface="Calibri" pitchFamily="34" charset="0"/>
                <a:ea typeface="Calibri" pitchFamily="34" charset="-122"/>
                <a:cs typeface="Calibri" pitchFamily="34" charset="-120"/>
              </a:rPr>
              <a:t>Info-točke ob štirih višinah vzpona (pribl. 35–148 m)</a:t>
            </a:r>
            <a:endParaRPr lang="en-US" sz="1150" dirty="0"/>
          </a:p>
        </p:txBody>
      </p:sp>
      <p:sp>
        <p:nvSpPr>
          <p:cNvPr id="23" name="Text 21"/>
          <p:cNvSpPr/>
          <p:nvPr/>
        </p:nvSpPr>
        <p:spPr>
          <a:xfrm>
            <a:off x="9006840" y="4434840"/>
            <a:ext cx="411480" cy="548640"/>
          </a:xfrm>
          <a:prstGeom prst="rect">
            <a:avLst/>
          </a:prstGeom>
          <a:noFill/>
          <a:ln/>
        </p:spPr>
        <p:txBody>
          <a:bodyPr wrap="square" rtlCol="0" anchor="ctr"/>
          <a:lstStyle/>
          <a:p>
            <a:pPr algn="ctr" indent="0" marL="0">
              <a:buNone/>
            </a:pPr>
            <a:r>
              <a:rPr lang="en-US" sz="1800" b="1" dirty="0">
                <a:solidFill>
                  <a:srgbClr val="FF7A3D"/>
                </a:solidFill>
              </a:rPr>
              <a:t>→</a:t>
            </a:r>
            <a:endParaRPr lang="en-US" sz="1800" dirty="0"/>
          </a:p>
        </p:txBody>
      </p:sp>
      <p:sp>
        <p:nvSpPr>
          <p:cNvPr id="24" name="Shape 22"/>
          <p:cNvSpPr/>
          <p:nvPr/>
        </p:nvSpPr>
        <p:spPr>
          <a:xfrm>
            <a:off x="9144000" y="3520440"/>
            <a:ext cx="2697480" cy="2468880"/>
          </a:xfrm>
          <a:prstGeom prst="roundRect">
            <a:avLst>
              <a:gd name="adj" fmla="val 2222"/>
            </a:avLst>
          </a:prstGeom>
          <a:solidFill>
            <a:srgbClr val="1B2127"/>
          </a:solidFill>
          <a:ln w="12700">
            <a:solidFill>
              <a:srgbClr val="323C44"/>
            </a:solidFill>
            <a:prstDash val="solid"/>
          </a:ln>
        </p:spPr>
      </p:sp>
      <p:sp>
        <p:nvSpPr>
          <p:cNvPr id="25" name="Shape 23"/>
          <p:cNvSpPr/>
          <p:nvPr/>
        </p:nvSpPr>
        <p:spPr>
          <a:xfrm>
            <a:off x="9345168" y="3721608"/>
            <a:ext cx="457200" cy="457200"/>
          </a:xfrm>
          <a:prstGeom prst="ellipse">
            <a:avLst/>
          </a:prstGeom>
          <a:solidFill>
            <a:srgbClr val="D85F28"/>
          </a:solidFill>
          <a:ln/>
        </p:spPr>
      </p:sp>
      <p:sp>
        <p:nvSpPr>
          <p:cNvPr id="26" name="Text 24"/>
          <p:cNvSpPr/>
          <p:nvPr/>
        </p:nvSpPr>
        <p:spPr>
          <a:xfrm>
            <a:off x="9345168" y="3721608"/>
            <a:ext cx="457200" cy="457200"/>
          </a:xfrm>
          <a:prstGeom prst="rect">
            <a:avLst/>
          </a:prstGeom>
          <a:noFill/>
          <a:ln/>
        </p:spPr>
        <p:txBody>
          <a:bodyPr wrap="square" rtlCol="0" anchor="ctr"/>
          <a:lstStyle/>
          <a:p>
            <a:pPr algn="ctr" indent="0" marL="0">
              <a:buNone/>
            </a:pPr>
            <a:r>
              <a:rPr lang="en-US" sz="1800" b="1" dirty="0">
                <a:solidFill>
                  <a:srgbClr val="EEF1F0"/>
                </a:solidFill>
                <a:latin typeface="Arial Black" pitchFamily="34" charset="0"/>
                <a:ea typeface="Arial Black" pitchFamily="34" charset="-122"/>
                <a:cs typeface="Arial Black" pitchFamily="34" charset="-120"/>
              </a:rPr>
              <a:t>4</a:t>
            </a:r>
            <a:endParaRPr lang="en-US" sz="1800" dirty="0"/>
          </a:p>
        </p:txBody>
      </p:sp>
      <p:sp>
        <p:nvSpPr>
          <p:cNvPr id="27" name="Text 25"/>
          <p:cNvSpPr/>
          <p:nvPr/>
        </p:nvSpPr>
        <p:spPr>
          <a:xfrm>
            <a:off x="9345168" y="4297680"/>
            <a:ext cx="2295144" cy="365760"/>
          </a:xfrm>
          <a:prstGeom prst="rect">
            <a:avLst/>
          </a:prstGeom>
          <a:noFill/>
          <a:ln/>
        </p:spPr>
        <p:txBody>
          <a:bodyPr wrap="square" rtlCol="0" anchor="ctr"/>
          <a:lstStyle/>
          <a:p>
            <a:pPr indent="0" marL="0">
              <a:buNone/>
            </a:pPr>
            <a:r>
              <a:rPr lang="en-US" sz="1500" b="1" dirty="0">
                <a:solidFill>
                  <a:srgbClr val="EEF1F0"/>
                </a:solidFill>
                <a:latin typeface="Arial Black" pitchFamily="34" charset="0"/>
                <a:ea typeface="Arial Black" pitchFamily="34" charset="-122"/>
                <a:cs typeface="Arial Black" pitchFamily="34" charset="-120"/>
              </a:rPr>
              <a:t>Vrh</a:t>
            </a:r>
            <a:endParaRPr lang="en-US" sz="1500" dirty="0"/>
          </a:p>
        </p:txBody>
      </p:sp>
      <p:sp>
        <p:nvSpPr>
          <p:cNvPr id="28" name="Text 26"/>
          <p:cNvSpPr/>
          <p:nvPr/>
        </p:nvSpPr>
        <p:spPr>
          <a:xfrm>
            <a:off x="9345168" y="4663440"/>
            <a:ext cx="2295144" cy="1188720"/>
          </a:xfrm>
          <a:prstGeom prst="rect">
            <a:avLst/>
          </a:prstGeom>
          <a:noFill/>
          <a:ln/>
        </p:spPr>
        <p:txBody>
          <a:bodyPr wrap="square" rtlCol="0" anchor="t"/>
          <a:lstStyle/>
          <a:p>
            <a:pPr indent="0" marL="0">
              <a:lnSpc>
                <a:spcPct val="120000"/>
              </a:lnSpc>
              <a:buNone/>
            </a:pPr>
            <a:r>
              <a:rPr lang="en-US" sz="1150" dirty="0">
                <a:solidFill>
                  <a:srgbClr val="9AA7AE"/>
                </a:solidFill>
                <a:latin typeface="Calibri" pitchFamily="34" charset="0"/>
                <a:ea typeface="Calibri" pitchFamily="34" charset="-122"/>
                <a:cs typeface="Calibri" pitchFamily="34" charset="-120"/>
              </a:rPr>
              <a:t>Galerija okoli odprtega žrela, razgled, vrtoglavica</a:t>
            </a:r>
            <a:endParaRPr lang="en-US" sz="1150" dirty="0"/>
          </a:p>
        </p:txBody>
      </p:sp>
      <p:sp>
        <p:nvSpPr>
          <p:cNvPr id="30" name="Text 27"/>
          <p:cNvSpPr/>
          <p:nvPr/>
        </p:nvSpPr>
        <p:spPr>
          <a:xfrm>
            <a:off x="640080" y="6400800"/>
            <a:ext cx="7315200" cy="274320"/>
          </a:xfrm>
          <a:prstGeom prst="rect">
            <a:avLst/>
          </a:prstGeom>
          <a:noFill/>
          <a:ln/>
        </p:spPr>
        <p:txBody>
          <a:bodyPr wrap="square" rtlCol="0" anchor="ctr"/>
          <a:lstStyle/>
          <a:p>
            <a:pPr indent="0" marL="0">
              <a:buNone/>
            </a:pPr>
            <a:r>
              <a:rPr lang="en-US" sz="900" spc="100" kern="0" dirty="0">
                <a:solidFill>
                  <a:srgbClr val="9AA7AE"/>
                </a:solidFill>
                <a:latin typeface="Consolas" pitchFamily="34" charset="0"/>
                <a:ea typeface="Consolas" pitchFamily="34" charset="-122"/>
                <a:cs typeface="Consolas" pitchFamily="34" charset="-120"/>
              </a:rPr>
              <a:t>VZPON — ZGODBA ŠOŠTANJSKE ELEKTRARNE</a:t>
            </a:r>
            <a:endParaRPr lang="en-US" sz="900" dirty="0"/>
          </a:p>
        </p:txBody>
      </p:sp>
      <p:sp>
        <p:nvSpPr>
          <p:cNvPr id="31" name="Text 28"/>
          <p:cNvSpPr/>
          <p:nvPr/>
        </p:nvSpPr>
        <p:spPr>
          <a:xfrm>
            <a:off x="7894015" y="6400800"/>
            <a:ext cx="3657600" cy="274320"/>
          </a:xfrm>
          <a:prstGeom prst="rect">
            <a:avLst/>
          </a:prstGeom>
          <a:noFill/>
          <a:ln/>
        </p:spPr>
        <p:txBody>
          <a:bodyPr wrap="square" rtlCol="0" anchor="ctr"/>
          <a:lstStyle/>
          <a:p>
            <a:pPr algn="r" indent="0" marL="0">
              <a:buNone/>
            </a:pPr>
            <a:r>
              <a:rPr lang="en-US" sz="900" dirty="0">
                <a:solidFill>
                  <a:srgbClr val="9AA7AE"/>
                </a:solidFill>
                <a:latin typeface="Consolas" pitchFamily="34" charset="0"/>
                <a:ea typeface="Consolas" pitchFamily="34" charset="-122"/>
                <a:cs typeface="Consolas"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81D"/>
        </a:solidFill>
      </p:bgPr>
    </p:bg>
    <p:spTree>
      <p:nvGrpSpPr>
        <p:cNvPr id="1" name=""/>
        <p:cNvGrpSpPr/>
        <p:nvPr/>
      </p:nvGrpSpPr>
      <p:grpSpPr>
        <a:xfrm>
          <a:off x="0" y="0"/>
          <a:ext cx="0" cy="0"/>
          <a:chOff x="0" y="0"/>
          <a:chExt cx="0" cy="0"/>
        </a:xfrm>
      </p:grpSpPr>
      <p:sp>
        <p:nvSpPr>
          <p:cNvPr id="2" name="Text 0"/>
          <p:cNvSpPr/>
          <p:nvPr/>
        </p:nvSpPr>
        <p:spPr>
          <a:xfrm>
            <a:off x="640080" y="384048"/>
            <a:ext cx="10911535" cy="320040"/>
          </a:xfrm>
          <a:prstGeom prst="rect">
            <a:avLst/>
          </a:prstGeom>
          <a:noFill/>
          <a:ln/>
        </p:spPr>
        <p:txBody>
          <a:bodyPr wrap="square" rtlCol="0" anchor="ctr"/>
          <a:lstStyle/>
          <a:p>
            <a:pPr indent="0" marL="0">
              <a:buNone/>
            </a:pPr>
            <a:r>
              <a:rPr lang="en-US" sz="1300" b="1" spc="200" kern="0" dirty="0">
                <a:solidFill>
                  <a:srgbClr val="FF7A3D"/>
                </a:solidFill>
                <a:latin typeface="Consolas" pitchFamily="34" charset="0"/>
                <a:ea typeface="Consolas" pitchFamily="34" charset="-122"/>
                <a:cs typeface="Consolas" pitchFamily="34" charset="-120"/>
              </a:rPr>
              <a:t>KRITERIJ 2 / 5 — VR REŠITEV</a:t>
            </a:r>
            <a:endParaRPr lang="en-US" sz="1300" dirty="0"/>
          </a:p>
        </p:txBody>
      </p:sp>
      <p:sp>
        <p:nvSpPr>
          <p:cNvPr id="3" name="Text 1"/>
          <p:cNvSpPr/>
          <p:nvPr/>
        </p:nvSpPr>
        <p:spPr>
          <a:xfrm>
            <a:off x="640080" y="658368"/>
            <a:ext cx="10911535" cy="822960"/>
          </a:xfrm>
          <a:prstGeom prst="rect">
            <a:avLst/>
          </a:prstGeom>
          <a:noFill/>
          <a:ln/>
        </p:spPr>
        <p:txBody>
          <a:bodyPr wrap="square" rtlCol="0" anchor="ctr"/>
          <a:lstStyle/>
          <a:p>
            <a:pPr indent="0" marL="0">
              <a:buNone/>
            </a:pPr>
            <a:r>
              <a:rPr lang="en-US" sz="3000" b="1" dirty="0">
                <a:solidFill>
                  <a:srgbClr val="EEF1F0"/>
                </a:solidFill>
                <a:latin typeface="Arial Black" pitchFamily="34" charset="0"/>
                <a:ea typeface="Arial Black" pitchFamily="34" charset="-122"/>
                <a:cs typeface="Arial Black" pitchFamily="34" charset="-120"/>
              </a:rPr>
              <a:t>Ključne funkcionalnosti in interakcije</a:t>
            </a:r>
            <a:endParaRPr lang="en-US" sz="3000" dirty="0"/>
          </a:p>
        </p:txBody>
      </p:sp>
      <p:sp>
        <p:nvSpPr>
          <p:cNvPr id="4" name="Shape 2"/>
          <p:cNvSpPr/>
          <p:nvPr/>
        </p:nvSpPr>
        <p:spPr>
          <a:xfrm>
            <a:off x="640080" y="1417320"/>
            <a:ext cx="1280160" cy="0"/>
          </a:xfrm>
          <a:prstGeom prst="line">
            <a:avLst/>
          </a:prstGeom>
          <a:noFill/>
          <a:ln w="38100">
            <a:solidFill>
              <a:srgbClr val="FF7A3D"/>
            </a:solidFill>
            <a:prstDash val="solid"/>
          </a:ln>
        </p:spPr>
      </p:sp>
      <p:sp>
        <p:nvSpPr>
          <p:cNvPr id="5" name="Text 3"/>
          <p:cNvSpPr/>
          <p:nvPr/>
        </p:nvSpPr>
        <p:spPr>
          <a:xfrm>
            <a:off x="640080" y="1828800"/>
            <a:ext cx="6766560" cy="4206240"/>
          </a:xfrm>
          <a:prstGeom prst="rect">
            <a:avLst/>
          </a:prstGeom>
          <a:noFill/>
          <a:ln/>
        </p:spPr>
        <p:txBody>
          <a:bodyPr wrap="square" rtlCol="0" anchor="t"/>
          <a:lstStyle/>
          <a:p>
            <a:pPr marL="228600" indent="-228600">
              <a:lnSpc>
                <a:spcPct val="128000"/>
              </a:lnSpc>
              <a:buSzPct val="100000"/>
              <a:buChar char="–"/>
            </a:pPr>
            <a:r>
              <a:rPr lang="en-US" sz="1600" dirty="0">
                <a:solidFill>
                  <a:srgbClr val="EEF1F0"/>
                </a:solidFill>
                <a:latin typeface="Calibri" pitchFamily="34" charset="0"/>
                <a:ea typeface="Calibri" pitchFamily="34" charset="-122"/>
                <a:cs typeface="Calibri" pitchFamily="34" charset="-120"/>
              </a:rPr>
              <a:t>Prosta hoja — WASD gibanje, pogled z miško (v VR: hoja + pogled z glavo/kontrolerji)</a:t>
            </a:r>
            <a:endParaRPr lang="en-US" sz="1600" dirty="0"/>
          </a:p>
          <a:p>
            <a:pPr marL="228600" indent="-228600">
              <a:lnSpc>
                <a:spcPct val="128000"/>
              </a:lnSpc>
              <a:buSzPct val="100000"/>
              <a:buChar char="–"/>
            </a:pPr>
            <a:r>
              <a:rPr lang="en-US" sz="1600" dirty="0">
                <a:solidFill>
                  <a:srgbClr val="EEF1F0"/>
                </a:solidFill>
                <a:latin typeface="Calibri" pitchFamily="34" charset="0"/>
                <a:ea typeface="Calibri" pitchFamily="34" charset="-122"/>
                <a:cs typeface="Calibri" pitchFamily="34" charset="-120"/>
              </a:rPr>
              <a:t>Plezanje — pristop k steni in vlečenje navzgor, lestev sledi ukrivljeni obliki stolpa</a:t>
            </a:r>
            <a:endParaRPr lang="en-US" sz="1600" dirty="0"/>
          </a:p>
          <a:p>
            <a:pPr marL="228600" indent="-228600">
              <a:lnSpc>
                <a:spcPct val="128000"/>
              </a:lnSpc>
              <a:buSzPct val="100000"/>
              <a:buChar char="–"/>
            </a:pPr>
            <a:r>
              <a:rPr lang="en-US" sz="1600" dirty="0">
                <a:solidFill>
                  <a:srgbClr val="EEF1F0"/>
                </a:solidFill>
                <a:latin typeface="Calibri" pitchFamily="34" charset="0"/>
                <a:ea typeface="Calibri" pitchFamily="34" charset="-122"/>
                <a:cs typeface="Calibri" pitchFamily="34" charset="-120"/>
              </a:rPr>
              <a:t>Zgodovinske info-točke — prikažejo se ob določenih višinah med vzponom</a:t>
            </a:r>
            <a:endParaRPr lang="en-US" sz="1600" dirty="0"/>
          </a:p>
          <a:p>
            <a:pPr marL="228600" indent="-228600">
              <a:lnSpc>
                <a:spcPct val="128000"/>
              </a:lnSpc>
              <a:buSzPct val="100000"/>
              <a:buChar char="–"/>
            </a:pPr>
            <a:r>
              <a:rPr lang="en-US" sz="1600" dirty="0">
                <a:solidFill>
                  <a:srgbClr val="EEF1F0"/>
                </a:solidFill>
                <a:latin typeface="Calibri" pitchFamily="34" charset="0"/>
                <a:ea typeface="Calibri" pitchFamily="34" charset="-122"/>
                <a:cs typeface="Calibri" pitchFamily="34" charset="-120"/>
              </a:rPr>
              <a:t>Odprto žrelo na vrhu — hoja po galeriji okoli jaška, para se dviga iz globine</a:t>
            </a:r>
            <a:endParaRPr lang="en-US" sz="1600" dirty="0"/>
          </a:p>
          <a:p>
            <a:pPr marL="228600" indent="-228600">
              <a:lnSpc>
                <a:spcPct val="128000"/>
              </a:lnSpc>
              <a:buSzPct val="100000"/>
              <a:buChar char="–"/>
            </a:pPr>
            <a:r>
              <a:rPr lang="en-US" sz="1600" dirty="0">
                <a:solidFill>
                  <a:srgbClr val="EEF1F0"/>
                </a:solidFill>
                <a:latin typeface="Calibri" pitchFamily="34" charset="0"/>
                <a:ea typeface="Calibri" pitchFamily="34" charset="-122"/>
                <a:cs typeface="Calibri" pitchFamily="34" charset="-120"/>
              </a:rPr>
              <a:t>Vrtoglavica — naravno se sproži ob obeh robovih (zunanji rob in odprti jašek)</a:t>
            </a:r>
            <a:endParaRPr lang="en-US" sz="1600" dirty="0"/>
          </a:p>
          <a:p>
            <a:pPr marL="228600" indent="-228600">
              <a:lnSpc>
                <a:spcPct val="128000"/>
              </a:lnSpc>
              <a:buSzPct val="100000"/>
              <a:buChar char="–"/>
            </a:pPr>
            <a:r>
              <a:rPr lang="en-US" sz="1600" dirty="0">
                <a:solidFill>
                  <a:srgbClr val="EEF1F0"/>
                </a:solidFill>
                <a:latin typeface="Calibri" pitchFamily="34" charset="0"/>
                <a:ea typeface="Calibri" pitchFamily="34" charset="-122"/>
                <a:cs typeface="Calibri" pitchFamily="34" charset="-120"/>
              </a:rPr>
              <a:t>Sistem napredka — HUD prikazuje višino vzpona v realnem času (do 164 m)</a:t>
            </a:r>
            <a:endParaRPr lang="en-US" sz="1600" dirty="0"/>
          </a:p>
        </p:txBody>
      </p:sp>
      <p:sp>
        <p:nvSpPr>
          <p:cNvPr id="6" name="Shape 4"/>
          <p:cNvSpPr/>
          <p:nvPr/>
        </p:nvSpPr>
        <p:spPr>
          <a:xfrm>
            <a:off x="7863840" y="1828800"/>
            <a:ext cx="3657600" cy="4114800"/>
          </a:xfrm>
          <a:prstGeom prst="roundRect">
            <a:avLst>
              <a:gd name="adj" fmla="val 1500"/>
            </a:avLst>
          </a:prstGeom>
          <a:solidFill>
            <a:srgbClr val="1B2127"/>
          </a:solidFill>
          <a:ln w="12700">
            <a:solidFill>
              <a:srgbClr val="323C44"/>
            </a:solidFill>
            <a:prstDash val="solid"/>
          </a:ln>
        </p:spPr>
      </p:sp>
      <p:sp>
        <p:nvSpPr>
          <p:cNvPr id="7" name="Text 5"/>
          <p:cNvSpPr/>
          <p:nvPr/>
        </p:nvSpPr>
        <p:spPr>
          <a:xfrm>
            <a:off x="8138160" y="2057400"/>
            <a:ext cx="3108960" cy="320040"/>
          </a:xfrm>
          <a:prstGeom prst="rect">
            <a:avLst/>
          </a:prstGeom>
          <a:noFill/>
          <a:ln/>
        </p:spPr>
        <p:txBody>
          <a:bodyPr wrap="square" rtlCol="0" anchor="ctr"/>
          <a:lstStyle/>
          <a:p>
            <a:pPr indent="0" marL="0">
              <a:buNone/>
            </a:pPr>
            <a:r>
              <a:rPr lang="en-US" sz="1100" b="1" spc="150" kern="0" dirty="0">
                <a:solidFill>
                  <a:srgbClr val="FF7A3D"/>
                </a:solidFill>
                <a:latin typeface="Consolas" pitchFamily="34" charset="0"/>
                <a:ea typeface="Consolas" pitchFamily="34" charset="-122"/>
                <a:cs typeface="Consolas" pitchFamily="34" charset="-120"/>
              </a:rPr>
              <a:t>UPRAVLJANJE</a:t>
            </a:r>
            <a:endParaRPr lang="en-US" sz="1100" dirty="0"/>
          </a:p>
        </p:txBody>
      </p:sp>
      <p:sp>
        <p:nvSpPr>
          <p:cNvPr id="8" name="Shape 6"/>
          <p:cNvSpPr/>
          <p:nvPr/>
        </p:nvSpPr>
        <p:spPr>
          <a:xfrm>
            <a:off x="8138160" y="2514600"/>
            <a:ext cx="1417320" cy="384048"/>
          </a:xfrm>
          <a:prstGeom prst="roundRect">
            <a:avLst>
              <a:gd name="adj" fmla="val 19048"/>
            </a:avLst>
          </a:prstGeom>
          <a:solidFill>
            <a:srgbClr val="232B32"/>
          </a:solidFill>
          <a:ln w="9525">
            <a:solidFill>
              <a:srgbClr val="323C44"/>
            </a:solidFill>
            <a:prstDash val="solid"/>
          </a:ln>
        </p:spPr>
      </p:sp>
      <p:sp>
        <p:nvSpPr>
          <p:cNvPr id="9" name="Text 7"/>
          <p:cNvSpPr/>
          <p:nvPr/>
        </p:nvSpPr>
        <p:spPr>
          <a:xfrm>
            <a:off x="8138160" y="2514600"/>
            <a:ext cx="1417320" cy="384048"/>
          </a:xfrm>
          <a:prstGeom prst="rect">
            <a:avLst/>
          </a:prstGeom>
          <a:noFill/>
          <a:ln/>
        </p:spPr>
        <p:txBody>
          <a:bodyPr wrap="square" rtlCol="0" anchor="ctr"/>
          <a:lstStyle/>
          <a:p>
            <a:pPr algn="ctr" indent="0" marL="0">
              <a:buNone/>
            </a:pPr>
            <a:r>
              <a:rPr lang="en-US" sz="1100" dirty="0">
                <a:solidFill>
                  <a:srgbClr val="EEF1F0"/>
                </a:solidFill>
                <a:latin typeface="Consolas" pitchFamily="34" charset="0"/>
                <a:ea typeface="Consolas" pitchFamily="34" charset="-122"/>
                <a:cs typeface="Consolas" pitchFamily="34" charset="-120"/>
              </a:rPr>
              <a:t>W A S D</a:t>
            </a:r>
            <a:endParaRPr lang="en-US" sz="1100" dirty="0"/>
          </a:p>
        </p:txBody>
      </p:sp>
      <p:sp>
        <p:nvSpPr>
          <p:cNvPr id="10" name="Text 8"/>
          <p:cNvSpPr/>
          <p:nvPr/>
        </p:nvSpPr>
        <p:spPr>
          <a:xfrm>
            <a:off x="9692640" y="2514600"/>
            <a:ext cx="1691640" cy="384048"/>
          </a:xfrm>
          <a:prstGeom prst="rect">
            <a:avLst/>
          </a:prstGeom>
          <a:noFill/>
          <a:ln/>
        </p:spPr>
        <p:txBody>
          <a:bodyPr wrap="square" rtlCol="0" anchor="ctr"/>
          <a:lstStyle/>
          <a:p>
            <a:pPr indent="0" marL="0">
              <a:buNone/>
            </a:pPr>
            <a:r>
              <a:rPr lang="en-US" sz="1150" dirty="0">
                <a:solidFill>
                  <a:srgbClr val="EEF1F0"/>
                </a:solidFill>
                <a:latin typeface="Calibri" pitchFamily="34" charset="0"/>
                <a:ea typeface="Calibri" pitchFamily="34" charset="-122"/>
                <a:cs typeface="Calibri" pitchFamily="34" charset="-120"/>
              </a:rPr>
              <a:t>gibanje / plezanje</a:t>
            </a:r>
            <a:endParaRPr lang="en-US" sz="1150" dirty="0"/>
          </a:p>
        </p:txBody>
      </p:sp>
      <p:sp>
        <p:nvSpPr>
          <p:cNvPr id="11" name="Shape 9"/>
          <p:cNvSpPr/>
          <p:nvPr/>
        </p:nvSpPr>
        <p:spPr>
          <a:xfrm>
            <a:off x="8138160" y="3291840"/>
            <a:ext cx="1417320" cy="384048"/>
          </a:xfrm>
          <a:prstGeom prst="roundRect">
            <a:avLst>
              <a:gd name="adj" fmla="val 19048"/>
            </a:avLst>
          </a:prstGeom>
          <a:solidFill>
            <a:srgbClr val="232B32"/>
          </a:solidFill>
          <a:ln w="9525">
            <a:solidFill>
              <a:srgbClr val="323C44"/>
            </a:solidFill>
            <a:prstDash val="solid"/>
          </a:ln>
        </p:spPr>
      </p:sp>
      <p:sp>
        <p:nvSpPr>
          <p:cNvPr id="12" name="Text 10"/>
          <p:cNvSpPr/>
          <p:nvPr/>
        </p:nvSpPr>
        <p:spPr>
          <a:xfrm>
            <a:off x="8138160" y="3291840"/>
            <a:ext cx="1417320" cy="384048"/>
          </a:xfrm>
          <a:prstGeom prst="rect">
            <a:avLst/>
          </a:prstGeom>
          <a:noFill/>
          <a:ln/>
        </p:spPr>
        <p:txBody>
          <a:bodyPr wrap="square" rtlCol="0" anchor="ctr"/>
          <a:lstStyle/>
          <a:p>
            <a:pPr algn="ctr" indent="0" marL="0">
              <a:buNone/>
            </a:pPr>
            <a:r>
              <a:rPr lang="en-US" sz="1100" dirty="0">
                <a:solidFill>
                  <a:srgbClr val="EEF1F0"/>
                </a:solidFill>
                <a:latin typeface="Consolas" pitchFamily="34" charset="0"/>
                <a:ea typeface="Consolas" pitchFamily="34" charset="-122"/>
                <a:cs typeface="Consolas" pitchFamily="34" charset="-120"/>
              </a:rPr>
              <a:t>SHIFT</a:t>
            </a:r>
            <a:endParaRPr lang="en-US" sz="1100" dirty="0"/>
          </a:p>
        </p:txBody>
      </p:sp>
      <p:sp>
        <p:nvSpPr>
          <p:cNvPr id="13" name="Text 11"/>
          <p:cNvSpPr/>
          <p:nvPr/>
        </p:nvSpPr>
        <p:spPr>
          <a:xfrm>
            <a:off x="9692640" y="3291840"/>
            <a:ext cx="1691640" cy="384048"/>
          </a:xfrm>
          <a:prstGeom prst="rect">
            <a:avLst/>
          </a:prstGeom>
          <a:noFill/>
          <a:ln/>
        </p:spPr>
        <p:txBody>
          <a:bodyPr wrap="square" rtlCol="0" anchor="ctr"/>
          <a:lstStyle/>
          <a:p>
            <a:pPr indent="0" marL="0">
              <a:buNone/>
            </a:pPr>
            <a:r>
              <a:rPr lang="en-US" sz="1150" dirty="0">
                <a:solidFill>
                  <a:srgbClr val="EEF1F0"/>
                </a:solidFill>
                <a:latin typeface="Calibri" pitchFamily="34" charset="0"/>
                <a:ea typeface="Calibri" pitchFamily="34" charset="-122"/>
                <a:cs typeface="Calibri" pitchFamily="34" charset="-120"/>
              </a:rPr>
              <a:t>tek</a:t>
            </a:r>
            <a:endParaRPr lang="en-US" sz="1150" dirty="0"/>
          </a:p>
        </p:txBody>
      </p:sp>
      <p:sp>
        <p:nvSpPr>
          <p:cNvPr id="14" name="Shape 12"/>
          <p:cNvSpPr/>
          <p:nvPr/>
        </p:nvSpPr>
        <p:spPr>
          <a:xfrm>
            <a:off x="8138160" y="4069080"/>
            <a:ext cx="1417320" cy="384048"/>
          </a:xfrm>
          <a:prstGeom prst="roundRect">
            <a:avLst>
              <a:gd name="adj" fmla="val 19048"/>
            </a:avLst>
          </a:prstGeom>
          <a:solidFill>
            <a:srgbClr val="232B32"/>
          </a:solidFill>
          <a:ln w="9525">
            <a:solidFill>
              <a:srgbClr val="323C44"/>
            </a:solidFill>
            <a:prstDash val="solid"/>
          </a:ln>
        </p:spPr>
      </p:sp>
      <p:sp>
        <p:nvSpPr>
          <p:cNvPr id="15" name="Text 13"/>
          <p:cNvSpPr/>
          <p:nvPr/>
        </p:nvSpPr>
        <p:spPr>
          <a:xfrm>
            <a:off x="8138160" y="4069080"/>
            <a:ext cx="1417320" cy="384048"/>
          </a:xfrm>
          <a:prstGeom prst="rect">
            <a:avLst/>
          </a:prstGeom>
          <a:noFill/>
          <a:ln/>
        </p:spPr>
        <p:txBody>
          <a:bodyPr wrap="square" rtlCol="0" anchor="ctr"/>
          <a:lstStyle/>
          <a:p>
            <a:pPr algn="ctr" indent="0" marL="0">
              <a:buNone/>
            </a:pPr>
            <a:r>
              <a:rPr lang="en-US" sz="1100" dirty="0">
                <a:solidFill>
                  <a:srgbClr val="EEF1F0"/>
                </a:solidFill>
                <a:latin typeface="Consolas" pitchFamily="34" charset="0"/>
                <a:ea typeface="Consolas" pitchFamily="34" charset="-122"/>
                <a:cs typeface="Consolas" pitchFamily="34" charset="-120"/>
              </a:rPr>
              <a:t>MIŠKA</a:t>
            </a:r>
            <a:endParaRPr lang="en-US" sz="1100" dirty="0"/>
          </a:p>
        </p:txBody>
      </p:sp>
      <p:sp>
        <p:nvSpPr>
          <p:cNvPr id="16" name="Text 14"/>
          <p:cNvSpPr/>
          <p:nvPr/>
        </p:nvSpPr>
        <p:spPr>
          <a:xfrm>
            <a:off x="9692640" y="4069080"/>
            <a:ext cx="1691640" cy="384048"/>
          </a:xfrm>
          <a:prstGeom prst="rect">
            <a:avLst/>
          </a:prstGeom>
          <a:noFill/>
          <a:ln/>
        </p:spPr>
        <p:txBody>
          <a:bodyPr wrap="square" rtlCol="0" anchor="ctr"/>
          <a:lstStyle/>
          <a:p>
            <a:pPr indent="0" marL="0">
              <a:buNone/>
            </a:pPr>
            <a:r>
              <a:rPr lang="en-US" sz="1150" dirty="0">
                <a:solidFill>
                  <a:srgbClr val="EEF1F0"/>
                </a:solidFill>
                <a:latin typeface="Calibri" pitchFamily="34" charset="0"/>
                <a:ea typeface="Calibri" pitchFamily="34" charset="-122"/>
                <a:cs typeface="Calibri" pitchFamily="34" charset="-120"/>
              </a:rPr>
              <a:t>pogled (klik = zaklep)</a:t>
            </a:r>
            <a:endParaRPr lang="en-US" sz="1150" dirty="0"/>
          </a:p>
        </p:txBody>
      </p:sp>
      <p:sp>
        <p:nvSpPr>
          <p:cNvPr id="17" name="Shape 15"/>
          <p:cNvSpPr/>
          <p:nvPr/>
        </p:nvSpPr>
        <p:spPr>
          <a:xfrm>
            <a:off x="8138160" y="4846320"/>
            <a:ext cx="1417320" cy="384048"/>
          </a:xfrm>
          <a:prstGeom prst="roundRect">
            <a:avLst>
              <a:gd name="adj" fmla="val 19048"/>
            </a:avLst>
          </a:prstGeom>
          <a:solidFill>
            <a:srgbClr val="232B32"/>
          </a:solidFill>
          <a:ln w="9525">
            <a:solidFill>
              <a:srgbClr val="323C44"/>
            </a:solidFill>
            <a:prstDash val="solid"/>
          </a:ln>
        </p:spPr>
      </p:sp>
      <p:sp>
        <p:nvSpPr>
          <p:cNvPr id="18" name="Text 16"/>
          <p:cNvSpPr/>
          <p:nvPr/>
        </p:nvSpPr>
        <p:spPr>
          <a:xfrm>
            <a:off x="8138160" y="4846320"/>
            <a:ext cx="1417320" cy="384048"/>
          </a:xfrm>
          <a:prstGeom prst="rect">
            <a:avLst/>
          </a:prstGeom>
          <a:noFill/>
          <a:ln/>
        </p:spPr>
        <p:txBody>
          <a:bodyPr wrap="square" rtlCol="0" anchor="ctr"/>
          <a:lstStyle/>
          <a:p>
            <a:pPr algn="ctr" indent="0" marL="0">
              <a:buNone/>
            </a:pPr>
            <a:r>
              <a:rPr lang="en-US" sz="1100" dirty="0">
                <a:solidFill>
                  <a:srgbClr val="EEF1F0"/>
                </a:solidFill>
                <a:latin typeface="Consolas" pitchFamily="34" charset="0"/>
                <a:ea typeface="Consolas" pitchFamily="34" charset="-122"/>
                <a:cs typeface="Consolas" pitchFamily="34" charset="-120"/>
              </a:rPr>
              <a:t>ESC</a:t>
            </a:r>
            <a:endParaRPr lang="en-US" sz="1100" dirty="0"/>
          </a:p>
        </p:txBody>
      </p:sp>
      <p:sp>
        <p:nvSpPr>
          <p:cNvPr id="19" name="Text 17"/>
          <p:cNvSpPr/>
          <p:nvPr/>
        </p:nvSpPr>
        <p:spPr>
          <a:xfrm>
            <a:off x="9692640" y="4846320"/>
            <a:ext cx="1691640" cy="384048"/>
          </a:xfrm>
          <a:prstGeom prst="rect">
            <a:avLst/>
          </a:prstGeom>
          <a:noFill/>
          <a:ln/>
        </p:spPr>
        <p:txBody>
          <a:bodyPr wrap="square" rtlCol="0" anchor="ctr"/>
          <a:lstStyle/>
          <a:p>
            <a:pPr indent="0" marL="0">
              <a:buNone/>
            </a:pPr>
            <a:r>
              <a:rPr lang="en-US" sz="1150" dirty="0">
                <a:solidFill>
                  <a:srgbClr val="EEF1F0"/>
                </a:solidFill>
                <a:latin typeface="Calibri" pitchFamily="34" charset="0"/>
                <a:ea typeface="Calibri" pitchFamily="34" charset="-122"/>
                <a:cs typeface="Calibri" pitchFamily="34" charset="-120"/>
              </a:rPr>
              <a:t>sprostitev miške</a:t>
            </a:r>
            <a:endParaRPr lang="en-US" sz="1150" dirty="0"/>
          </a:p>
        </p:txBody>
      </p:sp>
      <p:sp>
        <p:nvSpPr>
          <p:cNvPr id="21" name="Text 18"/>
          <p:cNvSpPr/>
          <p:nvPr/>
        </p:nvSpPr>
        <p:spPr>
          <a:xfrm>
            <a:off x="640080" y="6400800"/>
            <a:ext cx="7315200" cy="274320"/>
          </a:xfrm>
          <a:prstGeom prst="rect">
            <a:avLst/>
          </a:prstGeom>
          <a:noFill/>
          <a:ln/>
        </p:spPr>
        <p:txBody>
          <a:bodyPr wrap="square" rtlCol="0" anchor="ctr"/>
          <a:lstStyle/>
          <a:p>
            <a:pPr indent="0" marL="0">
              <a:buNone/>
            </a:pPr>
            <a:r>
              <a:rPr lang="en-US" sz="900" spc="100" kern="0" dirty="0">
                <a:solidFill>
                  <a:srgbClr val="9AA7AE"/>
                </a:solidFill>
                <a:latin typeface="Consolas" pitchFamily="34" charset="0"/>
                <a:ea typeface="Consolas" pitchFamily="34" charset="-122"/>
                <a:cs typeface="Consolas" pitchFamily="34" charset="-120"/>
              </a:rPr>
              <a:t>VZPON — ZGODBA ŠOŠTANJSKE ELEKTRARNE</a:t>
            </a:r>
            <a:endParaRPr lang="en-US" sz="900" dirty="0"/>
          </a:p>
        </p:txBody>
      </p:sp>
      <p:sp>
        <p:nvSpPr>
          <p:cNvPr id="22" name="Text 19"/>
          <p:cNvSpPr/>
          <p:nvPr/>
        </p:nvSpPr>
        <p:spPr>
          <a:xfrm>
            <a:off x="7894015" y="6400800"/>
            <a:ext cx="3657600" cy="274320"/>
          </a:xfrm>
          <a:prstGeom prst="rect">
            <a:avLst/>
          </a:prstGeom>
          <a:noFill/>
          <a:ln/>
        </p:spPr>
        <p:txBody>
          <a:bodyPr wrap="square" rtlCol="0" anchor="ctr"/>
          <a:lstStyle/>
          <a:p>
            <a:pPr algn="r" indent="0" marL="0">
              <a:buNone/>
            </a:pPr>
            <a:r>
              <a:rPr lang="en-US" sz="900" dirty="0">
                <a:solidFill>
                  <a:srgbClr val="9AA7AE"/>
                </a:solidFill>
                <a:latin typeface="Consolas" pitchFamily="34" charset="0"/>
                <a:ea typeface="Consolas" pitchFamily="34" charset="-122"/>
                <a:cs typeface="Consolas"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81D"/>
        </a:solidFill>
      </p:bgPr>
    </p:bg>
    <p:spTree>
      <p:nvGrpSpPr>
        <p:cNvPr id="1" name=""/>
        <p:cNvGrpSpPr/>
        <p:nvPr/>
      </p:nvGrpSpPr>
      <p:grpSpPr>
        <a:xfrm>
          <a:off x="0" y="0"/>
          <a:ext cx="0" cy="0"/>
          <a:chOff x="0" y="0"/>
          <a:chExt cx="0" cy="0"/>
        </a:xfrm>
      </p:grpSpPr>
      <p:sp>
        <p:nvSpPr>
          <p:cNvPr id="2" name="Text 0"/>
          <p:cNvSpPr/>
          <p:nvPr/>
        </p:nvSpPr>
        <p:spPr>
          <a:xfrm>
            <a:off x="640080" y="384048"/>
            <a:ext cx="10911535" cy="320040"/>
          </a:xfrm>
          <a:prstGeom prst="rect">
            <a:avLst/>
          </a:prstGeom>
          <a:noFill/>
          <a:ln/>
        </p:spPr>
        <p:txBody>
          <a:bodyPr wrap="square" rtlCol="0" anchor="ctr"/>
          <a:lstStyle/>
          <a:p>
            <a:pPr indent="0" marL="0">
              <a:buNone/>
            </a:pPr>
            <a:r>
              <a:rPr lang="en-US" sz="1300" b="1" spc="200" kern="0" dirty="0">
                <a:solidFill>
                  <a:srgbClr val="FF7A3D"/>
                </a:solidFill>
                <a:latin typeface="Consolas" pitchFamily="34" charset="0"/>
                <a:ea typeface="Consolas" pitchFamily="34" charset="-122"/>
                <a:cs typeface="Consolas" pitchFamily="34" charset="-120"/>
              </a:rPr>
              <a:t>KRITERIJ 3 / 5 — UPORABLJENE TEHNOLOGIJE</a:t>
            </a:r>
            <a:endParaRPr lang="en-US" sz="1300" dirty="0"/>
          </a:p>
        </p:txBody>
      </p:sp>
      <p:sp>
        <p:nvSpPr>
          <p:cNvPr id="3" name="Text 1"/>
          <p:cNvSpPr/>
          <p:nvPr/>
        </p:nvSpPr>
        <p:spPr>
          <a:xfrm>
            <a:off x="640080" y="658368"/>
            <a:ext cx="10911535" cy="822960"/>
          </a:xfrm>
          <a:prstGeom prst="rect">
            <a:avLst/>
          </a:prstGeom>
          <a:noFill/>
          <a:ln/>
        </p:spPr>
        <p:txBody>
          <a:bodyPr wrap="square" rtlCol="0" anchor="ctr"/>
          <a:lstStyle/>
          <a:p>
            <a:pPr indent="0" marL="0">
              <a:buNone/>
            </a:pPr>
            <a:r>
              <a:rPr lang="en-US" sz="3000" b="1" dirty="0">
                <a:solidFill>
                  <a:srgbClr val="EEF1F0"/>
                </a:solidFill>
                <a:latin typeface="Arial Black" pitchFamily="34" charset="0"/>
                <a:ea typeface="Arial Black" pitchFamily="34" charset="-122"/>
                <a:cs typeface="Arial Black" pitchFamily="34" charset="-120"/>
              </a:rPr>
              <a:t>WebXR-track: teče brez namestitve</a:t>
            </a:r>
            <a:endParaRPr lang="en-US" sz="3000" dirty="0"/>
          </a:p>
        </p:txBody>
      </p:sp>
      <p:sp>
        <p:nvSpPr>
          <p:cNvPr id="4" name="Shape 2"/>
          <p:cNvSpPr/>
          <p:nvPr/>
        </p:nvSpPr>
        <p:spPr>
          <a:xfrm>
            <a:off x="640080" y="1417320"/>
            <a:ext cx="1280160" cy="0"/>
          </a:xfrm>
          <a:prstGeom prst="line">
            <a:avLst/>
          </a:prstGeom>
          <a:noFill/>
          <a:ln w="38100">
            <a:solidFill>
              <a:srgbClr val="FF7A3D"/>
            </a:solidFill>
            <a:prstDash val="solid"/>
          </a:ln>
        </p:spPr>
      </p:sp>
      <p:sp>
        <p:nvSpPr>
          <p:cNvPr id="5" name="Text 3"/>
          <p:cNvSpPr/>
          <p:nvPr/>
        </p:nvSpPr>
        <p:spPr>
          <a:xfrm>
            <a:off x="640080" y="1828800"/>
            <a:ext cx="10881360" cy="1188720"/>
          </a:xfrm>
          <a:prstGeom prst="rect">
            <a:avLst/>
          </a:prstGeom>
          <a:noFill/>
          <a:ln/>
        </p:spPr>
        <p:txBody>
          <a:bodyPr wrap="square" rtlCol="0" anchor="t"/>
          <a:lstStyle/>
          <a:p>
            <a:pPr indent="0" marL="0">
              <a:lnSpc>
                <a:spcPct val="130000"/>
              </a:lnSpc>
              <a:buNone/>
            </a:pPr>
            <a:r>
              <a:rPr lang="en-US" sz="1600" dirty="0">
                <a:solidFill>
                  <a:srgbClr val="EEF1F0"/>
                </a:solidFill>
                <a:latin typeface="Calibri" pitchFamily="34" charset="0"/>
                <a:ea typeface="Calibri" pitchFamily="34" charset="-122"/>
                <a:cs typeface="Calibri" pitchFamily="34" charset="-120"/>
              </a:rPr>
              <a:t>Aplikacija je zasnovana za WebXR — teče neposredno v brskalniku, tudi na Meta Quest napravi, brez ločenega gradbenega procesa. Ta prednost je bila odločilna za hitro iteriranje v razvoju, ki ga je zahteval predmet.</a:t>
            </a:r>
            <a:endParaRPr lang="en-US" sz="1600" dirty="0"/>
          </a:p>
        </p:txBody>
      </p:sp>
      <p:sp>
        <p:nvSpPr>
          <p:cNvPr id="6" name="Shape 4"/>
          <p:cNvSpPr/>
          <p:nvPr/>
        </p:nvSpPr>
        <p:spPr>
          <a:xfrm>
            <a:off x="640080" y="3063240"/>
            <a:ext cx="3968496" cy="384048"/>
          </a:xfrm>
          <a:prstGeom prst="roundRect">
            <a:avLst>
              <a:gd name="adj" fmla="val 19048"/>
            </a:avLst>
          </a:prstGeom>
          <a:solidFill>
            <a:srgbClr val="232B32"/>
          </a:solidFill>
          <a:ln w="9525">
            <a:solidFill>
              <a:srgbClr val="323C44"/>
            </a:solidFill>
            <a:prstDash val="solid"/>
          </a:ln>
        </p:spPr>
      </p:sp>
      <p:sp>
        <p:nvSpPr>
          <p:cNvPr id="7" name="Text 5"/>
          <p:cNvSpPr/>
          <p:nvPr/>
        </p:nvSpPr>
        <p:spPr>
          <a:xfrm>
            <a:off x="640080" y="3063240"/>
            <a:ext cx="3968496" cy="384048"/>
          </a:xfrm>
          <a:prstGeom prst="rect">
            <a:avLst/>
          </a:prstGeom>
          <a:noFill/>
          <a:ln/>
        </p:spPr>
        <p:txBody>
          <a:bodyPr wrap="square" rtlCol="0" anchor="ctr"/>
          <a:lstStyle/>
          <a:p>
            <a:pPr algn="ctr" indent="0" marL="0">
              <a:buNone/>
            </a:pPr>
            <a:r>
              <a:rPr lang="en-US" sz="1100" dirty="0">
                <a:solidFill>
                  <a:srgbClr val="EEF1F0"/>
                </a:solidFill>
                <a:latin typeface="Consolas" pitchFamily="34" charset="0"/>
                <a:ea typeface="Consolas" pitchFamily="34" charset="-122"/>
                <a:cs typeface="Consolas" pitchFamily="34" charset="-120"/>
              </a:rPr>
              <a:t>WebXR Device API</a:t>
            </a:r>
            <a:endParaRPr lang="en-US" sz="1100" dirty="0"/>
          </a:p>
        </p:txBody>
      </p:sp>
      <p:sp>
        <p:nvSpPr>
          <p:cNvPr id="8" name="Shape 6"/>
          <p:cNvSpPr/>
          <p:nvPr/>
        </p:nvSpPr>
        <p:spPr>
          <a:xfrm>
            <a:off x="4791456" y="3063240"/>
            <a:ext cx="2651760" cy="384048"/>
          </a:xfrm>
          <a:prstGeom prst="roundRect">
            <a:avLst>
              <a:gd name="adj" fmla="val 19048"/>
            </a:avLst>
          </a:prstGeom>
          <a:solidFill>
            <a:srgbClr val="232B32"/>
          </a:solidFill>
          <a:ln w="9525">
            <a:solidFill>
              <a:srgbClr val="323C44"/>
            </a:solidFill>
            <a:prstDash val="solid"/>
          </a:ln>
        </p:spPr>
      </p:sp>
      <p:sp>
        <p:nvSpPr>
          <p:cNvPr id="9" name="Text 7"/>
          <p:cNvSpPr/>
          <p:nvPr/>
        </p:nvSpPr>
        <p:spPr>
          <a:xfrm>
            <a:off x="4791456" y="3063240"/>
            <a:ext cx="2651760" cy="384048"/>
          </a:xfrm>
          <a:prstGeom prst="rect">
            <a:avLst/>
          </a:prstGeom>
          <a:noFill/>
          <a:ln/>
        </p:spPr>
        <p:txBody>
          <a:bodyPr wrap="square" rtlCol="0" anchor="ctr"/>
          <a:lstStyle/>
          <a:p>
            <a:pPr algn="ctr" indent="0" marL="0">
              <a:buNone/>
            </a:pPr>
            <a:r>
              <a:rPr lang="en-US" sz="1100" dirty="0">
                <a:solidFill>
                  <a:srgbClr val="EEF1F0"/>
                </a:solidFill>
                <a:latin typeface="Consolas" pitchFamily="34" charset="0"/>
                <a:ea typeface="Consolas" pitchFamily="34" charset="-122"/>
                <a:cs typeface="Consolas" pitchFamily="34" charset="-120"/>
              </a:rPr>
              <a:t>JavaScript</a:t>
            </a:r>
            <a:endParaRPr lang="en-US" sz="1100" dirty="0"/>
          </a:p>
        </p:txBody>
      </p:sp>
      <p:sp>
        <p:nvSpPr>
          <p:cNvPr id="10" name="Shape 8"/>
          <p:cNvSpPr/>
          <p:nvPr/>
        </p:nvSpPr>
        <p:spPr>
          <a:xfrm>
            <a:off x="7626096" y="3063240"/>
            <a:ext cx="3749040" cy="384048"/>
          </a:xfrm>
          <a:prstGeom prst="roundRect">
            <a:avLst>
              <a:gd name="adj" fmla="val 19048"/>
            </a:avLst>
          </a:prstGeom>
          <a:solidFill>
            <a:srgbClr val="232B32"/>
          </a:solidFill>
          <a:ln w="9525">
            <a:solidFill>
              <a:srgbClr val="323C44"/>
            </a:solidFill>
            <a:prstDash val="solid"/>
          </a:ln>
        </p:spPr>
      </p:sp>
      <p:sp>
        <p:nvSpPr>
          <p:cNvPr id="11" name="Text 9"/>
          <p:cNvSpPr/>
          <p:nvPr/>
        </p:nvSpPr>
        <p:spPr>
          <a:xfrm>
            <a:off x="7626096" y="3063240"/>
            <a:ext cx="3749040" cy="384048"/>
          </a:xfrm>
          <a:prstGeom prst="rect">
            <a:avLst/>
          </a:prstGeom>
          <a:noFill/>
          <a:ln/>
        </p:spPr>
        <p:txBody>
          <a:bodyPr wrap="square" rtlCol="0" anchor="ctr"/>
          <a:lstStyle/>
          <a:p>
            <a:pPr algn="ctr" indent="0" marL="0">
              <a:buNone/>
            </a:pPr>
            <a:r>
              <a:rPr lang="en-US" sz="1100" dirty="0">
                <a:solidFill>
                  <a:srgbClr val="EEF1F0"/>
                </a:solidFill>
                <a:latin typeface="Consolas" pitchFamily="34" charset="0"/>
                <a:ea typeface="Consolas" pitchFamily="34" charset="-122"/>
                <a:cs typeface="Consolas" pitchFamily="34" charset="-120"/>
              </a:rPr>
              <a:t>HTML5 Canvas 2D</a:t>
            </a:r>
            <a:endParaRPr lang="en-US" sz="1100" dirty="0"/>
          </a:p>
        </p:txBody>
      </p:sp>
      <p:sp>
        <p:nvSpPr>
          <p:cNvPr id="12" name="Shape 10"/>
          <p:cNvSpPr/>
          <p:nvPr/>
        </p:nvSpPr>
        <p:spPr>
          <a:xfrm>
            <a:off x="11558016" y="3063240"/>
            <a:ext cx="4846320" cy="384048"/>
          </a:xfrm>
          <a:prstGeom prst="roundRect">
            <a:avLst>
              <a:gd name="adj" fmla="val 19048"/>
            </a:avLst>
          </a:prstGeom>
          <a:solidFill>
            <a:srgbClr val="232B32"/>
          </a:solidFill>
          <a:ln w="9525">
            <a:solidFill>
              <a:srgbClr val="323C44"/>
            </a:solidFill>
            <a:prstDash val="solid"/>
          </a:ln>
        </p:spPr>
      </p:sp>
      <p:sp>
        <p:nvSpPr>
          <p:cNvPr id="13" name="Text 11"/>
          <p:cNvSpPr/>
          <p:nvPr/>
        </p:nvSpPr>
        <p:spPr>
          <a:xfrm>
            <a:off x="11558016" y="3063240"/>
            <a:ext cx="4846320" cy="384048"/>
          </a:xfrm>
          <a:prstGeom prst="rect">
            <a:avLst/>
          </a:prstGeom>
          <a:noFill/>
          <a:ln/>
        </p:spPr>
        <p:txBody>
          <a:bodyPr wrap="square" rtlCol="0" anchor="ctr"/>
          <a:lstStyle/>
          <a:p>
            <a:pPr algn="ctr" indent="0" marL="0">
              <a:buNone/>
            </a:pPr>
            <a:r>
              <a:rPr lang="en-US" sz="1100" dirty="0">
                <a:solidFill>
                  <a:srgbClr val="EEF1F0"/>
                </a:solidFill>
                <a:latin typeface="Consolas" pitchFamily="34" charset="0"/>
                <a:ea typeface="Consolas" pitchFamily="34" charset="-122"/>
                <a:cs typeface="Consolas" pitchFamily="34" charset="-120"/>
              </a:rPr>
              <a:t>Meta Quest brskalnik</a:t>
            </a:r>
            <a:endParaRPr lang="en-US" sz="1100" dirty="0"/>
          </a:p>
        </p:txBody>
      </p:sp>
      <p:sp>
        <p:nvSpPr>
          <p:cNvPr id="14" name="Shape 12"/>
          <p:cNvSpPr/>
          <p:nvPr/>
        </p:nvSpPr>
        <p:spPr>
          <a:xfrm>
            <a:off x="16587216" y="3063240"/>
            <a:ext cx="5285232" cy="384048"/>
          </a:xfrm>
          <a:prstGeom prst="roundRect">
            <a:avLst>
              <a:gd name="adj" fmla="val 19048"/>
            </a:avLst>
          </a:prstGeom>
          <a:solidFill>
            <a:srgbClr val="232B32"/>
          </a:solidFill>
          <a:ln w="9525">
            <a:solidFill>
              <a:srgbClr val="323C44"/>
            </a:solidFill>
            <a:prstDash val="solid"/>
          </a:ln>
        </p:spPr>
      </p:sp>
      <p:sp>
        <p:nvSpPr>
          <p:cNvPr id="15" name="Text 13"/>
          <p:cNvSpPr/>
          <p:nvPr/>
        </p:nvSpPr>
        <p:spPr>
          <a:xfrm>
            <a:off x="16587216" y="3063240"/>
            <a:ext cx="5285232" cy="384048"/>
          </a:xfrm>
          <a:prstGeom prst="rect">
            <a:avLst/>
          </a:prstGeom>
          <a:noFill/>
          <a:ln/>
        </p:spPr>
        <p:txBody>
          <a:bodyPr wrap="square" rtlCol="0" anchor="ctr"/>
          <a:lstStyle/>
          <a:p>
            <a:pPr algn="ctr" indent="0" marL="0">
              <a:buNone/>
            </a:pPr>
            <a:r>
              <a:rPr lang="en-US" sz="1100" dirty="0">
                <a:solidFill>
                  <a:srgbClr val="EEF1F0"/>
                </a:solidFill>
                <a:latin typeface="Consolas" pitchFamily="34" charset="0"/>
                <a:ea typeface="Consolas" pitchFamily="34" charset="-122"/>
                <a:cs typeface="Consolas" pitchFamily="34" charset="-120"/>
              </a:rPr>
              <a:t>Brez zunanjih knjižnic</a:t>
            </a:r>
            <a:endParaRPr lang="en-US" sz="1100" dirty="0"/>
          </a:p>
        </p:txBody>
      </p:sp>
      <p:sp>
        <p:nvSpPr>
          <p:cNvPr id="16" name="Text 14"/>
          <p:cNvSpPr/>
          <p:nvPr/>
        </p:nvSpPr>
        <p:spPr>
          <a:xfrm>
            <a:off x="640080" y="3749040"/>
            <a:ext cx="10058400" cy="320040"/>
          </a:xfrm>
          <a:prstGeom prst="rect">
            <a:avLst/>
          </a:prstGeom>
          <a:noFill/>
          <a:ln/>
        </p:spPr>
        <p:txBody>
          <a:bodyPr wrap="square" rtlCol="0" anchor="ctr"/>
          <a:lstStyle/>
          <a:p>
            <a:pPr indent="0" marL="0">
              <a:buNone/>
            </a:pPr>
            <a:r>
              <a:rPr lang="en-US" sz="1200" b="1" spc="100" kern="0" dirty="0">
                <a:solidFill>
                  <a:srgbClr val="FF7A3D"/>
                </a:solidFill>
                <a:latin typeface="Consolas" pitchFamily="34" charset="0"/>
                <a:ea typeface="Consolas" pitchFamily="34" charset="-122"/>
                <a:cs typeface="Consolas" pitchFamily="34" charset="-120"/>
              </a:rPr>
              <a:t>ZAKAJ NE UNREAL ENGINE ALI WEBGL/THREE.JS</a:t>
            </a:r>
            <a:endParaRPr lang="en-US" sz="1200" dirty="0"/>
          </a:p>
        </p:txBody>
      </p:sp>
      <p:sp>
        <p:nvSpPr>
          <p:cNvPr id="17" name="Text 15"/>
          <p:cNvSpPr/>
          <p:nvPr/>
        </p:nvSpPr>
        <p:spPr>
          <a:xfrm>
            <a:off x="640080" y="4114800"/>
            <a:ext cx="10881360" cy="4206240"/>
          </a:xfrm>
          <a:prstGeom prst="rect">
            <a:avLst/>
          </a:prstGeom>
          <a:noFill/>
          <a:ln/>
        </p:spPr>
        <p:txBody>
          <a:bodyPr wrap="square" rtlCol="0" anchor="t"/>
          <a:lstStyle/>
          <a:p>
            <a:pPr marL="228600" indent="-228600">
              <a:lnSpc>
                <a:spcPct val="128000"/>
              </a:lnSpc>
              <a:buSzPct val="100000"/>
              <a:buChar char="–"/>
            </a:pPr>
            <a:r>
              <a:rPr lang="en-US" sz="1500" dirty="0">
                <a:solidFill>
                  <a:srgbClr val="EEF1F0"/>
                </a:solidFill>
                <a:latin typeface="Calibri" pitchFamily="34" charset="0"/>
                <a:ea typeface="Calibri" pitchFamily="34" charset="-122"/>
                <a:cs typeface="Calibri" pitchFamily="34" charset="-120"/>
              </a:rPr>
              <a:t>Unreal Engine: sredi projekta opuščen zaradi hitrosti razvoja — WebXR teče takoj, brez gradbenega procesa</a:t>
            </a:r>
            <a:endParaRPr lang="en-US" sz="1500" dirty="0"/>
          </a:p>
          <a:p>
            <a:pPr marL="228600" indent="-228600">
              <a:lnSpc>
                <a:spcPct val="128000"/>
              </a:lnSpc>
              <a:buSzPct val="100000"/>
              <a:buChar char="–"/>
            </a:pPr>
            <a:r>
              <a:rPr lang="en-US" sz="1500" dirty="0">
                <a:solidFill>
                  <a:srgbClr val="EEF1F0"/>
                </a:solidFill>
                <a:latin typeface="Calibri" pitchFamily="34" charset="0"/>
                <a:ea typeface="Calibri" pitchFamily="34" charset="-122"/>
                <a:cs typeface="Calibri" pitchFamily="34" charset="-120"/>
              </a:rPr>
              <a:t>WebGL/Three.js: namerno izpuščen — lasten ročno pisan Canvas2D "3D pogon" s pravo perspektivno projekcijo je hitreje deloval znotraj časovnih omejitev projekta</a:t>
            </a:r>
            <a:endParaRPr lang="en-US" sz="1500" dirty="0"/>
          </a:p>
        </p:txBody>
      </p:sp>
      <p:sp>
        <p:nvSpPr>
          <p:cNvPr id="19" name="Text 16"/>
          <p:cNvSpPr/>
          <p:nvPr/>
        </p:nvSpPr>
        <p:spPr>
          <a:xfrm>
            <a:off x="640080" y="6400800"/>
            <a:ext cx="7315200" cy="274320"/>
          </a:xfrm>
          <a:prstGeom prst="rect">
            <a:avLst/>
          </a:prstGeom>
          <a:noFill/>
          <a:ln/>
        </p:spPr>
        <p:txBody>
          <a:bodyPr wrap="square" rtlCol="0" anchor="ctr"/>
          <a:lstStyle/>
          <a:p>
            <a:pPr indent="0" marL="0">
              <a:buNone/>
            </a:pPr>
            <a:r>
              <a:rPr lang="en-US" sz="900" spc="100" kern="0" dirty="0">
                <a:solidFill>
                  <a:srgbClr val="9AA7AE"/>
                </a:solidFill>
                <a:latin typeface="Consolas" pitchFamily="34" charset="0"/>
                <a:ea typeface="Consolas" pitchFamily="34" charset="-122"/>
                <a:cs typeface="Consolas" pitchFamily="34" charset="-120"/>
              </a:rPr>
              <a:t>VZPON — ZGODBA ŠOŠTANJSKE ELEKTRARNE</a:t>
            </a:r>
            <a:endParaRPr lang="en-US" sz="900" dirty="0"/>
          </a:p>
        </p:txBody>
      </p:sp>
      <p:sp>
        <p:nvSpPr>
          <p:cNvPr id="20" name="Text 17"/>
          <p:cNvSpPr/>
          <p:nvPr/>
        </p:nvSpPr>
        <p:spPr>
          <a:xfrm>
            <a:off x="7894015" y="6400800"/>
            <a:ext cx="3657600" cy="274320"/>
          </a:xfrm>
          <a:prstGeom prst="rect">
            <a:avLst/>
          </a:prstGeom>
          <a:noFill/>
          <a:ln/>
        </p:spPr>
        <p:txBody>
          <a:bodyPr wrap="square" rtlCol="0" anchor="ctr"/>
          <a:lstStyle/>
          <a:p>
            <a:pPr algn="r" indent="0" marL="0">
              <a:buNone/>
            </a:pPr>
            <a:r>
              <a:rPr lang="en-US" sz="900" dirty="0">
                <a:solidFill>
                  <a:srgbClr val="9AA7AE"/>
                </a:solidFill>
                <a:latin typeface="Consolas" pitchFamily="34" charset="0"/>
                <a:ea typeface="Consolas" pitchFamily="34" charset="-122"/>
                <a:cs typeface="Consolas"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1D"/>
        </a:solidFill>
      </p:bgPr>
    </p:bg>
    <p:spTree>
      <p:nvGrpSpPr>
        <p:cNvPr id="1" name=""/>
        <p:cNvGrpSpPr/>
        <p:nvPr/>
      </p:nvGrpSpPr>
      <p:grpSpPr>
        <a:xfrm>
          <a:off x="0" y="0"/>
          <a:ext cx="0" cy="0"/>
          <a:chOff x="0" y="0"/>
          <a:chExt cx="0" cy="0"/>
        </a:xfrm>
      </p:grpSpPr>
      <p:sp>
        <p:nvSpPr>
          <p:cNvPr id="2" name="Text 0"/>
          <p:cNvSpPr/>
          <p:nvPr/>
        </p:nvSpPr>
        <p:spPr>
          <a:xfrm>
            <a:off x="640080" y="384048"/>
            <a:ext cx="10911535" cy="320040"/>
          </a:xfrm>
          <a:prstGeom prst="rect">
            <a:avLst/>
          </a:prstGeom>
          <a:noFill/>
          <a:ln/>
        </p:spPr>
        <p:txBody>
          <a:bodyPr wrap="square" rtlCol="0" anchor="ctr"/>
          <a:lstStyle/>
          <a:p>
            <a:pPr indent="0" marL="0">
              <a:buNone/>
            </a:pPr>
            <a:r>
              <a:rPr lang="en-US" sz="1300" b="1" spc="200" kern="0" dirty="0">
                <a:solidFill>
                  <a:srgbClr val="FF7A3D"/>
                </a:solidFill>
                <a:latin typeface="Consolas" pitchFamily="34" charset="0"/>
                <a:ea typeface="Consolas" pitchFamily="34" charset="-122"/>
                <a:cs typeface="Consolas" pitchFamily="34" charset="-120"/>
              </a:rPr>
              <a:t>KAKO DELUJE PROTOTIP</a:t>
            </a:r>
            <a:endParaRPr lang="en-US" sz="1300" dirty="0"/>
          </a:p>
        </p:txBody>
      </p:sp>
      <p:sp>
        <p:nvSpPr>
          <p:cNvPr id="3" name="Text 1"/>
          <p:cNvSpPr/>
          <p:nvPr/>
        </p:nvSpPr>
        <p:spPr>
          <a:xfrm>
            <a:off x="640080" y="658368"/>
            <a:ext cx="10911535" cy="822960"/>
          </a:xfrm>
          <a:prstGeom prst="rect">
            <a:avLst/>
          </a:prstGeom>
          <a:noFill/>
          <a:ln/>
        </p:spPr>
        <p:txBody>
          <a:bodyPr wrap="square" rtlCol="0" anchor="ctr"/>
          <a:lstStyle/>
          <a:p>
            <a:pPr indent="0" marL="0">
              <a:buNone/>
            </a:pPr>
            <a:r>
              <a:rPr lang="en-US" sz="3000" b="1" dirty="0">
                <a:solidFill>
                  <a:srgbClr val="EEF1F0"/>
                </a:solidFill>
                <a:latin typeface="Arial Black" pitchFamily="34" charset="0"/>
                <a:ea typeface="Arial Black" pitchFamily="34" charset="-122"/>
                <a:cs typeface="Arial Black" pitchFamily="34" charset="-120"/>
              </a:rPr>
              <a:t>Ročno pisan Canvas2D 3D pogon</a:t>
            </a:r>
            <a:endParaRPr lang="en-US" sz="3000" dirty="0"/>
          </a:p>
        </p:txBody>
      </p:sp>
      <p:sp>
        <p:nvSpPr>
          <p:cNvPr id="4" name="Shape 2"/>
          <p:cNvSpPr/>
          <p:nvPr/>
        </p:nvSpPr>
        <p:spPr>
          <a:xfrm>
            <a:off x="640080" y="1417320"/>
            <a:ext cx="1280160" cy="0"/>
          </a:xfrm>
          <a:prstGeom prst="line">
            <a:avLst/>
          </a:prstGeom>
          <a:noFill/>
          <a:ln w="38100">
            <a:solidFill>
              <a:srgbClr val="FF7A3D"/>
            </a:solidFill>
            <a:prstDash val="solid"/>
          </a:ln>
        </p:spPr>
      </p:sp>
      <p:sp>
        <p:nvSpPr>
          <p:cNvPr id="5" name="Text 3"/>
          <p:cNvSpPr/>
          <p:nvPr/>
        </p:nvSpPr>
        <p:spPr>
          <a:xfrm>
            <a:off x="640080" y="1828800"/>
            <a:ext cx="10881360" cy="822960"/>
          </a:xfrm>
          <a:prstGeom prst="rect">
            <a:avLst/>
          </a:prstGeom>
          <a:noFill/>
          <a:ln/>
        </p:spPr>
        <p:txBody>
          <a:bodyPr wrap="square" rtlCol="0" anchor="t"/>
          <a:lstStyle/>
          <a:p>
            <a:pPr indent="0" marL="0">
              <a:lnSpc>
                <a:spcPct val="125000"/>
              </a:lnSpc>
              <a:buNone/>
            </a:pPr>
            <a:r>
              <a:rPr lang="en-US" sz="1500" dirty="0">
                <a:solidFill>
                  <a:srgbClr val="EEF1F0"/>
                </a:solidFill>
                <a:latin typeface="Calibri" pitchFamily="34" charset="0"/>
                <a:ea typeface="Calibri" pitchFamily="34" charset="-122"/>
                <a:cs typeface="Calibri" pitchFamily="34" charset="-120"/>
              </a:rPr>
              <a:t>tes-sostanj.html — ena sama HTML datoteka, brez zunanjih knjižnic. Ves "3D svet" izračuna pravo perspektivno projekcijo vsako sličico, na navadnem 2D platnu.</a:t>
            </a:r>
            <a:endParaRPr lang="en-US" sz="1500" dirty="0"/>
          </a:p>
        </p:txBody>
      </p:sp>
      <p:sp>
        <p:nvSpPr>
          <p:cNvPr id="6" name="Shape 4"/>
          <p:cNvSpPr/>
          <p:nvPr/>
        </p:nvSpPr>
        <p:spPr>
          <a:xfrm>
            <a:off x="640080" y="2880360"/>
            <a:ext cx="2057400" cy="960120"/>
          </a:xfrm>
          <a:prstGeom prst="roundRect">
            <a:avLst>
              <a:gd name="adj" fmla="val 5714"/>
            </a:avLst>
          </a:prstGeom>
          <a:solidFill>
            <a:srgbClr val="232B32"/>
          </a:solidFill>
          <a:ln w="12700">
            <a:solidFill>
              <a:srgbClr val="323C44"/>
            </a:solidFill>
            <a:prstDash val="solid"/>
          </a:ln>
        </p:spPr>
      </p:sp>
      <p:sp>
        <p:nvSpPr>
          <p:cNvPr id="7" name="Text 5"/>
          <p:cNvSpPr/>
          <p:nvPr/>
        </p:nvSpPr>
        <p:spPr>
          <a:xfrm>
            <a:off x="731520" y="2880360"/>
            <a:ext cx="1874520" cy="960120"/>
          </a:xfrm>
          <a:prstGeom prst="rect">
            <a:avLst/>
          </a:prstGeom>
          <a:noFill/>
          <a:ln/>
        </p:spPr>
        <p:txBody>
          <a:bodyPr wrap="square" rtlCol="0" anchor="ctr"/>
          <a:lstStyle/>
          <a:p>
            <a:pPr algn="ctr" indent="0" marL="0">
              <a:lnSpc>
                <a:spcPct val="115000"/>
              </a:lnSpc>
              <a:buNone/>
            </a:pPr>
            <a:r>
              <a:rPr lang="en-US" sz="1150" dirty="0">
                <a:solidFill>
                  <a:srgbClr val="EEF1F0"/>
                </a:solidFill>
                <a:latin typeface="Consolas" pitchFamily="34" charset="0"/>
                <a:ea typeface="Consolas" pitchFamily="34" charset="-122"/>
                <a:cs typeface="Consolas" pitchFamily="34" charset="-120"/>
              </a:rPr>
              <a:t>Svetovne</a:t>
            </a:r>
            <a:endParaRPr lang="en-US" sz="1150" dirty="0"/>
          </a:p>
          <a:p>
            <a:pPr algn="ctr" indent="0" marL="0">
              <a:lnSpc>
                <a:spcPct val="115000"/>
              </a:lnSpc>
              <a:buNone/>
            </a:pPr>
            <a:r>
              <a:rPr lang="en-US" sz="1150" dirty="0">
                <a:solidFill>
                  <a:srgbClr val="EEF1F0"/>
                </a:solidFill>
                <a:latin typeface="Consolas" pitchFamily="34" charset="0"/>
                <a:ea typeface="Consolas" pitchFamily="34" charset="-122"/>
                <a:cs typeface="Consolas" pitchFamily="34" charset="-120"/>
              </a:rPr>
              <a:t>koordinate</a:t>
            </a:r>
            <a:endParaRPr lang="en-US" sz="1150" dirty="0"/>
          </a:p>
        </p:txBody>
      </p:sp>
      <p:sp>
        <p:nvSpPr>
          <p:cNvPr id="8" name="Text 6"/>
          <p:cNvSpPr/>
          <p:nvPr/>
        </p:nvSpPr>
        <p:spPr>
          <a:xfrm>
            <a:off x="2697480" y="2880360"/>
            <a:ext cx="411480" cy="960120"/>
          </a:xfrm>
          <a:prstGeom prst="rect">
            <a:avLst/>
          </a:prstGeom>
          <a:noFill/>
          <a:ln/>
        </p:spPr>
        <p:txBody>
          <a:bodyPr wrap="square" rtlCol="0" anchor="ctr"/>
          <a:lstStyle/>
          <a:p>
            <a:pPr algn="ctr" indent="0" marL="0">
              <a:buNone/>
            </a:pPr>
            <a:r>
              <a:rPr lang="en-US" sz="1600" b="1" dirty="0">
                <a:solidFill>
                  <a:srgbClr val="FF7A3D"/>
                </a:solidFill>
              </a:rPr>
              <a:t>→</a:t>
            </a:r>
            <a:endParaRPr lang="en-US" sz="1600" dirty="0"/>
          </a:p>
        </p:txBody>
      </p:sp>
      <p:sp>
        <p:nvSpPr>
          <p:cNvPr id="9" name="Shape 7"/>
          <p:cNvSpPr/>
          <p:nvPr/>
        </p:nvSpPr>
        <p:spPr>
          <a:xfrm>
            <a:off x="2880360" y="2880360"/>
            <a:ext cx="2057400" cy="960120"/>
          </a:xfrm>
          <a:prstGeom prst="roundRect">
            <a:avLst>
              <a:gd name="adj" fmla="val 5714"/>
            </a:avLst>
          </a:prstGeom>
          <a:solidFill>
            <a:srgbClr val="232B32"/>
          </a:solidFill>
          <a:ln w="12700">
            <a:solidFill>
              <a:srgbClr val="323C44"/>
            </a:solidFill>
            <a:prstDash val="solid"/>
          </a:ln>
        </p:spPr>
      </p:sp>
      <p:sp>
        <p:nvSpPr>
          <p:cNvPr id="10" name="Text 8"/>
          <p:cNvSpPr/>
          <p:nvPr/>
        </p:nvSpPr>
        <p:spPr>
          <a:xfrm>
            <a:off x="2971800" y="2880360"/>
            <a:ext cx="1874520" cy="960120"/>
          </a:xfrm>
          <a:prstGeom prst="rect">
            <a:avLst/>
          </a:prstGeom>
          <a:noFill/>
          <a:ln/>
        </p:spPr>
        <p:txBody>
          <a:bodyPr wrap="square" rtlCol="0" anchor="ctr"/>
          <a:lstStyle/>
          <a:p>
            <a:pPr algn="ctr" indent="0" marL="0">
              <a:lnSpc>
                <a:spcPct val="115000"/>
              </a:lnSpc>
              <a:buNone/>
            </a:pPr>
            <a:r>
              <a:rPr lang="en-US" sz="1150" dirty="0">
                <a:solidFill>
                  <a:srgbClr val="EEF1F0"/>
                </a:solidFill>
                <a:latin typeface="Consolas" pitchFamily="34" charset="0"/>
                <a:ea typeface="Consolas" pitchFamily="34" charset="-122"/>
                <a:cs typeface="Consolas" pitchFamily="34" charset="-120"/>
              </a:rPr>
              <a:t>toCamera()</a:t>
            </a:r>
            <a:endParaRPr lang="en-US" sz="1150" dirty="0"/>
          </a:p>
          <a:p>
            <a:pPr algn="ctr" indent="0" marL="0">
              <a:lnSpc>
                <a:spcPct val="115000"/>
              </a:lnSpc>
              <a:buNone/>
            </a:pPr>
            <a:r>
              <a:rPr lang="en-US" sz="1150" dirty="0">
                <a:solidFill>
                  <a:srgbClr val="EEF1F0"/>
                </a:solidFill>
                <a:latin typeface="Consolas" pitchFamily="34" charset="0"/>
                <a:ea typeface="Consolas" pitchFamily="34" charset="-122"/>
                <a:cs typeface="Consolas" pitchFamily="34" charset="-120"/>
              </a:rPr>
              <a:t>v prostor kamere</a:t>
            </a:r>
            <a:endParaRPr lang="en-US" sz="1150" dirty="0"/>
          </a:p>
        </p:txBody>
      </p:sp>
      <p:sp>
        <p:nvSpPr>
          <p:cNvPr id="11" name="Text 9"/>
          <p:cNvSpPr/>
          <p:nvPr/>
        </p:nvSpPr>
        <p:spPr>
          <a:xfrm>
            <a:off x="4937760" y="2880360"/>
            <a:ext cx="411480" cy="960120"/>
          </a:xfrm>
          <a:prstGeom prst="rect">
            <a:avLst/>
          </a:prstGeom>
          <a:noFill/>
          <a:ln/>
        </p:spPr>
        <p:txBody>
          <a:bodyPr wrap="square" rtlCol="0" anchor="ctr"/>
          <a:lstStyle/>
          <a:p>
            <a:pPr algn="ctr" indent="0" marL="0">
              <a:buNone/>
            </a:pPr>
            <a:r>
              <a:rPr lang="en-US" sz="1600" b="1" dirty="0">
                <a:solidFill>
                  <a:srgbClr val="FF7A3D"/>
                </a:solidFill>
              </a:rPr>
              <a:t>→</a:t>
            </a:r>
            <a:endParaRPr lang="en-US" sz="1600" dirty="0"/>
          </a:p>
        </p:txBody>
      </p:sp>
      <p:sp>
        <p:nvSpPr>
          <p:cNvPr id="12" name="Shape 10"/>
          <p:cNvSpPr/>
          <p:nvPr/>
        </p:nvSpPr>
        <p:spPr>
          <a:xfrm>
            <a:off x="5120640" y="2880360"/>
            <a:ext cx="2057400" cy="960120"/>
          </a:xfrm>
          <a:prstGeom prst="roundRect">
            <a:avLst>
              <a:gd name="adj" fmla="val 5714"/>
            </a:avLst>
          </a:prstGeom>
          <a:solidFill>
            <a:srgbClr val="232B32"/>
          </a:solidFill>
          <a:ln w="12700">
            <a:solidFill>
              <a:srgbClr val="323C44"/>
            </a:solidFill>
            <a:prstDash val="solid"/>
          </a:ln>
        </p:spPr>
      </p:sp>
      <p:sp>
        <p:nvSpPr>
          <p:cNvPr id="13" name="Text 11"/>
          <p:cNvSpPr/>
          <p:nvPr/>
        </p:nvSpPr>
        <p:spPr>
          <a:xfrm>
            <a:off x="5212080" y="2880360"/>
            <a:ext cx="1874520" cy="960120"/>
          </a:xfrm>
          <a:prstGeom prst="rect">
            <a:avLst/>
          </a:prstGeom>
          <a:noFill/>
          <a:ln/>
        </p:spPr>
        <p:txBody>
          <a:bodyPr wrap="square" rtlCol="0" anchor="ctr"/>
          <a:lstStyle/>
          <a:p>
            <a:pPr algn="ctr" indent="0" marL="0">
              <a:lnSpc>
                <a:spcPct val="115000"/>
              </a:lnSpc>
              <a:buNone/>
            </a:pPr>
            <a:r>
              <a:rPr lang="en-US" sz="1150" dirty="0">
                <a:solidFill>
                  <a:srgbClr val="EEF1F0"/>
                </a:solidFill>
                <a:latin typeface="Consolas" pitchFamily="34" charset="0"/>
                <a:ea typeface="Consolas" pitchFamily="34" charset="-122"/>
                <a:cs typeface="Consolas" pitchFamily="34" charset="-120"/>
              </a:rPr>
              <a:t>project()</a:t>
            </a:r>
            <a:endParaRPr lang="en-US" sz="1150" dirty="0"/>
          </a:p>
          <a:p>
            <a:pPr algn="ctr" indent="0" marL="0">
              <a:lnSpc>
                <a:spcPct val="115000"/>
              </a:lnSpc>
              <a:buNone/>
            </a:pPr>
            <a:r>
              <a:rPr lang="en-US" sz="1150" dirty="0">
                <a:solidFill>
                  <a:srgbClr val="EEF1F0"/>
                </a:solidFill>
                <a:latin typeface="Consolas" pitchFamily="34" charset="0"/>
                <a:ea typeface="Consolas" pitchFamily="34" charset="-122"/>
                <a:cs typeface="Consolas" pitchFamily="34" charset="-120"/>
              </a:rPr>
              <a:t>perspektivna deljenje</a:t>
            </a:r>
            <a:endParaRPr lang="en-US" sz="1150" dirty="0"/>
          </a:p>
        </p:txBody>
      </p:sp>
      <p:sp>
        <p:nvSpPr>
          <p:cNvPr id="14" name="Text 12"/>
          <p:cNvSpPr/>
          <p:nvPr/>
        </p:nvSpPr>
        <p:spPr>
          <a:xfrm>
            <a:off x="7178040" y="2880360"/>
            <a:ext cx="411480" cy="960120"/>
          </a:xfrm>
          <a:prstGeom prst="rect">
            <a:avLst/>
          </a:prstGeom>
          <a:noFill/>
          <a:ln/>
        </p:spPr>
        <p:txBody>
          <a:bodyPr wrap="square" rtlCol="0" anchor="ctr"/>
          <a:lstStyle/>
          <a:p>
            <a:pPr algn="ctr" indent="0" marL="0">
              <a:buNone/>
            </a:pPr>
            <a:r>
              <a:rPr lang="en-US" sz="1600" b="1" dirty="0">
                <a:solidFill>
                  <a:srgbClr val="FF7A3D"/>
                </a:solidFill>
              </a:rPr>
              <a:t>→</a:t>
            </a:r>
            <a:endParaRPr lang="en-US" sz="1600" dirty="0"/>
          </a:p>
        </p:txBody>
      </p:sp>
      <p:sp>
        <p:nvSpPr>
          <p:cNvPr id="15" name="Shape 13"/>
          <p:cNvSpPr/>
          <p:nvPr/>
        </p:nvSpPr>
        <p:spPr>
          <a:xfrm>
            <a:off x="7360920" y="2880360"/>
            <a:ext cx="2057400" cy="960120"/>
          </a:xfrm>
          <a:prstGeom prst="roundRect">
            <a:avLst>
              <a:gd name="adj" fmla="val 5714"/>
            </a:avLst>
          </a:prstGeom>
          <a:solidFill>
            <a:srgbClr val="D85F28"/>
          </a:solidFill>
          <a:ln w="12700">
            <a:solidFill>
              <a:srgbClr val="323C44"/>
            </a:solidFill>
            <a:prstDash val="solid"/>
          </a:ln>
        </p:spPr>
      </p:sp>
      <p:sp>
        <p:nvSpPr>
          <p:cNvPr id="16" name="Text 14"/>
          <p:cNvSpPr/>
          <p:nvPr/>
        </p:nvSpPr>
        <p:spPr>
          <a:xfrm>
            <a:off x="7452360" y="2880360"/>
            <a:ext cx="1874520" cy="960120"/>
          </a:xfrm>
          <a:prstGeom prst="rect">
            <a:avLst/>
          </a:prstGeom>
          <a:noFill/>
          <a:ln/>
        </p:spPr>
        <p:txBody>
          <a:bodyPr wrap="square" rtlCol="0" anchor="ctr"/>
          <a:lstStyle/>
          <a:p>
            <a:pPr algn="ctr" indent="0" marL="0">
              <a:lnSpc>
                <a:spcPct val="115000"/>
              </a:lnSpc>
              <a:buNone/>
            </a:pPr>
            <a:r>
              <a:rPr lang="en-US" sz="1150" dirty="0">
                <a:solidFill>
                  <a:srgbClr val="EEF1F0"/>
                </a:solidFill>
                <a:latin typeface="Consolas" pitchFamily="34" charset="0"/>
                <a:ea typeface="Consolas" pitchFamily="34" charset="-122"/>
                <a:cs typeface="Consolas" pitchFamily="34" charset="-120"/>
              </a:rPr>
              <a:t>Painter's algorithm</a:t>
            </a:r>
            <a:endParaRPr lang="en-US" sz="1150" dirty="0"/>
          </a:p>
          <a:p>
            <a:pPr algn="ctr" indent="0" marL="0">
              <a:lnSpc>
                <a:spcPct val="115000"/>
              </a:lnSpc>
              <a:buNone/>
            </a:pPr>
            <a:r>
              <a:rPr lang="en-US" sz="1150" dirty="0">
                <a:solidFill>
                  <a:srgbClr val="EEF1F0"/>
                </a:solidFill>
                <a:latin typeface="Consolas" pitchFamily="34" charset="0"/>
                <a:ea typeface="Consolas" pitchFamily="34" charset="-122"/>
                <a:cs typeface="Consolas" pitchFamily="34" charset="-120"/>
              </a:rPr>
              <a:t>sort po minZ</a:t>
            </a:r>
            <a:endParaRPr lang="en-US" sz="1150" dirty="0"/>
          </a:p>
        </p:txBody>
      </p:sp>
      <p:sp>
        <p:nvSpPr>
          <p:cNvPr id="17" name="Text 15"/>
          <p:cNvSpPr/>
          <p:nvPr/>
        </p:nvSpPr>
        <p:spPr>
          <a:xfrm>
            <a:off x="9418320" y="2880360"/>
            <a:ext cx="411480" cy="960120"/>
          </a:xfrm>
          <a:prstGeom prst="rect">
            <a:avLst/>
          </a:prstGeom>
          <a:noFill/>
          <a:ln/>
        </p:spPr>
        <p:txBody>
          <a:bodyPr wrap="square" rtlCol="0" anchor="ctr"/>
          <a:lstStyle/>
          <a:p>
            <a:pPr algn="ctr" indent="0" marL="0">
              <a:buNone/>
            </a:pPr>
            <a:r>
              <a:rPr lang="en-US" sz="1600" b="1" dirty="0">
                <a:solidFill>
                  <a:srgbClr val="FF7A3D"/>
                </a:solidFill>
              </a:rPr>
              <a:t>→</a:t>
            </a:r>
            <a:endParaRPr lang="en-US" sz="1600" dirty="0"/>
          </a:p>
        </p:txBody>
      </p:sp>
      <p:sp>
        <p:nvSpPr>
          <p:cNvPr id="18" name="Shape 16"/>
          <p:cNvSpPr/>
          <p:nvPr/>
        </p:nvSpPr>
        <p:spPr>
          <a:xfrm>
            <a:off x="9601200" y="2880360"/>
            <a:ext cx="2057400" cy="960120"/>
          </a:xfrm>
          <a:prstGeom prst="roundRect">
            <a:avLst>
              <a:gd name="adj" fmla="val 5714"/>
            </a:avLst>
          </a:prstGeom>
          <a:solidFill>
            <a:srgbClr val="232B32"/>
          </a:solidFill>
          <a:ln w="12700">
            <a:solidFill>
              <a:srgbClr val="323C44"/>
            </a:solidFill>
            <a:prstDash val="solid"/>
          </a:ln>
        </p:spPr>
      </p:sp>
      <p:sp>
        <p:nvSpPr>
          <p:cNvPr id="19" name="Text 17"/>
          <p:cNvSpPr/>
          <p:nvPr/>
        </p:nvSpPr>
        <p:spPr>
          <a:xfrm>
            <a:off x="9692640" y="2880360"/>
            <a:ext cx="1874520" cy="960120"/>
          </a:xfrm>
          <a:prstGeom prst="rect">
            <a:avLst/>
          </a:prstGeom>
          <a:noFill/>
          <a:ln/>
        </p:spPr>
        <p:txBody>
          <a:bodyPr wrap="square" rtlCol="0" anchor="ctr"/>
          <a:lstStyle/>
          <a:p>
            <a:pPr algn="ctr" indent="0" marL="0">
              <a:lnSpc>
                <a:spcPct val="115000"/>
              </a:lnSpc>
              <a:buNone/>
            </a:pPr>
            <a:r>
              <a:rPr lang="en-US" sz="1150" dirty="0">
                <a:solidFill>
                  <a:srgbClr val="EEF1F0"/>
                </a:solidFill>
                <a:latin typeface="Consolas" pitchFamily="34" charset="0"/>
                <a:ea typeface="Consolas" pitchFamily="34" charset="-122"/>
                <a:cs typeface="Consolas" pitchFamily="34" charset="-120"/>
              </a:rPr>
              <a:t>ctx.fill()</a:t>
            </a:r>
            <a:endParaRPr lang="en-US" sz="1150" dirty="0"/>
          </a:p>
          <a:p>
            <a:pPr algn="ctr" indent="0" marL="0">
              <a:lnSpc>
                <a:spcPct val="115000"/>
              </a:lnSpc>
              <a:buNone/>
            </a:pPr>
            <a:r>
              <a:rPr lang="en-US" sz="1150" dirty="0">
                <a:solidFill>
                  <a:srgbClr val="EEF1F0"/>
                </a:solidFill>
                <a:latin typeface="Consolas" pitchFamily="34" charset="0"/>
                <a:ea typeface="Consolas" pitchFamily="34" charset="-122"/>
                <a:cs typeface="Consolas" pitchFamily="34" charset="-120"/>
              </a:rPr>
              <a:t>na 2D platno</a:t>
            </a:r>
            <a:endParaRPr lang="en-US" sz="1150" dirty="0"/>
          </a:p>
        </p:txBody>
      </p:sp>
      <p:sp>
        <p:nvSpPr>
          <p:cNvPr id="20" name="Text 18"/>
          <p:cNvSpPr/>
          <p:nvPr/>
        </p:nvSpPr>
        <p:spPr>
          <a:xfrm>
            <a:off x="640080" y="4160520"/>
            <a:ext cx="10881360" cy="4206240"/>
          </a:xfrm>
          <a:prstGeom prst="rect">
            <a:avLst/>
          </a:prstGeom>
          <a:noFill/>
          <a:ln/>
        </p:spPr>
        <p:txBody>
          <a:bodyPr wrap="square" rtlCol="0" anchor="t"/>
          <a:lstStyle/>
          <a:p>
            <a:pPr marL="228600" indent="-228600">
              <a:lnSpc>
                <a:spcPct val="128000"/>
              </a:lnSpc>
              <a:buSzPct val="100000"/>
              <a:buChar char="–"/>
            </a:pPr>
            <a:r>
              <a:rPr lang="en-US" sz="1400" dirty="0">
                <a:solidFill>
                  <a:srgbClr val="EEF1F0"/>
                </a:solidFill>
                <a:latin typeface="Calibri" pitchFamily="34" charset="0"/>
                <a:ea typeface="Calibri" pitchFamily="34" charset="-122"/>
                <a:cs typeface="Calibri" pitchFamily="34" charset="-120"/>
              </a:rPr>
              <a:t>Stolp: prava hiperboloidna krivulja (formula votlega hladilnega stolpa), votel vrh z odprtim žrelom</a:t>
            </a:r>
            <a:endParaRPr lang="en-US" sz="1400" dirty="0"/>
          </a:p>
          <a:p>
            <a:pPr marL="228600" indent="-228600">
              <a:lnSpc>
                <a:spcPct val="128000"/>
              </a:lnSpc>
              <a:buSzPct val="100000"/>
              <a:buChar char="–"/>
            </a:pPr>
            <a:r>
              <a:rPr lang="en-US" sz="1400" dirty="0">
                <a:solidFill>
                  <a:srgbClr val="EEF1F0"/>
                </a:solidFill>
                <a:latin typeface="Calibri" pitchFamily="34" charset="0"/>
                <a:ea typeface="Calibri" pitchFamily="34" charset="-122"/>
                <a:cs typeface="Calibri" pitchFamily="34" charset="-120"/>
              </a:rPr>
              <a:t>Gladko (Gouraud) senčenje ukrivljenih ploskev — sosednje ploskve se ujemajo na skupnem robu</a:t>
            </a:r>
            <a:endParaRPr lang="en-US" sz="1400" dirty="0"/>
          </a:p>
          <a:p>
            <a:pPr marL="228600" indent="-228600">
              <a:lnSpc>
                <a:spcPct val="128000"/>
              </a:lnSpc>
              <a:buSzPct val="100000"/>
              <a:buChar char="–"/>
            </a:pPr>
            <a:r>
              <a:rPr lang="en-US" sz="1400" dirty="0">
                <a:solidFill>
                  <a:srgbClr val="EEF1F0"/>
                </a:solidFill>
                <a:latin typeface="Calibri" pitchFamily="34" charset="0"/>
                <a:ea typeface="Calibri" pitchFamily="34" charset="-122"/>
                <a:cs typeface="Calibri" pitchFamily="34" charset="-120"/>
              </a:rPr>
              <a:t>Oblaki/dim/drevesa: vnaprej izrisani kot sličice (sprite) — živ blur filter bi bil prepočasen</a:t>
            </a:r>
            <a:endParaRPr lang="en-US" sz="1400" dirty="0"/>
          </a:p>
          <a:p>
            <a:pPr marL="228600" indent="-228600">
              <a:lnSpc>
                <a:spcPct val="128000"/>
              </a:lnSpc>
              <a:buSzPct val="100000"/>
              <a:buChar char="–"/>
            </a:pPr>
            <a:r>
              <a:rPr lang="en-US" sz="1400" dirty="0">
                <a:solidFill>
                  <a:srgbClr val="EEF1F0"/>
                </a:solidFill>
                <a:latin typeface="Calibri" pitchFamily="34" charset="0"/>
                <a:ea typeface="Calibri" pitchFamily="34" charset="-122"/>
                <a:cs typeface="Calibri" pitchFamily="34" charset="-120"/>
              </a:rPr>
              <a:t>Painter's algorithm namesto z-bufferja: ploskve se sortirajo po najbližji točki, ne povprečju</a:t>
            </a:r>
            <a:endParaRPr lang="en-US" sz="1400" dirty="0"/>
          </a:p>
        </p:txBody>
      </p:sp>
      <p:sp>
        <p:nvSpPr>
          <p:cNvPr id="22" name="Text 19"/>
          <p:cNvSpPr/>
          <p:nvPr/>
        </p:nvSpPr>
        <p:spPr>
          <a:xfrm>
            <a:off x="640080" y="6400800"/>
            <a:ext cx="7315200" cy="274320"/>
          </a:xfrm>
          <a:prstGeom prst="rect">
            <a:avLst/>
          </a:prstGeom>
          <a:noFill/>
          <a:ln/>
        </p:spPr>
        <p:txBody>
          <a:bodyPr wrap="square" rtlCol="0" anchor="ctr"/>
          <a:lstStyle/>
          <a:p>
            <a:pPr indent="0" marL="0">
              <a:buNone/>
            </a:pPr>
            <a:r>
              <a:rPr lang="en-US" sz="900" spc="100" kern="0" dirty="0">
                <a:solidFill>
                  <a:srgbClr val="9AA7AE"/>
                </a:solidFill>
                <a:latin typeface="Consolas" pitchFamily="34" charset="0"/>
                <a:ea typeface="Consolas" pitchFamily="34" charset="-122"/>
                <a:cs typeface="Consolas" pitchFamily="34" charset="-120"/>
              </a:rPr>
              <a:t>VZPON — ZGODBA ŠOŠTANJSKE ELEKTRARNE</a:t>
            </a:r>
            <a:endParaRPr lang="en-US" sz="900" dirty="0"/>
          </a:p>
        </p:txBody>
      </p:sp>
      <p:sp>
        <p:nvSpPr>
          <p:cNvPr id="23" name="Text 20"/>
          <p:cNvSpPr/>
          <p:nvPr/>
        </p:nvSpPr>
        <p:spPr>
          <a:xfrm>
            <a:off x="7894015" y="6400800"/>
            <a:ext cx="3657600" cy="274320"/>
          </a:xfrm>
          <a:prstGeom prst="rect">
            <a:avLst/>
          </a:prstGeom>
          <a:noFill/>
          <a:ln/>
        </p:spPr>
        <p:txBody>
          <a:bodyPr wrap="square" rtlCol="0" anchor="ctr"/>
          <a:lstStyle/>
          <a:p>
            <a:pPr algn="r" indent="0" marL="0">
              <a:buNone/>
            </a:pPr>
            <a:r>
              <a:rPr lang="en-US" sz="900" dirty="0">
                <a:solidFill>
                  <a:srgbClr val="9AA7AE"/>
                </a:solidFill>
                <a:latin typeface="Consolas" pitchFamily="34" charset="0"/>
                <a:ea typeface="Consolas" pitchFamily="34" charset="-122"/>
                <a:cs typeface="Consolas"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81D"/>
        </a:solidFill>
      </p:bgPr>
    </p:bg>
    <p:spTree>
      <p:nvGrpSpPr>
        <p:cNvPr id="1" name=""/>
        <p:cNvGrpSpPr/>
        <p:nvPr/>
      </p:nvGrpSpPr>
      <p:grpSpPr>
        <a:xfrm>
          <a:off x="0" y="0"/>
          <a:ext cx="0" cy="0"/>
          <a:chOff x="0" y="0"/>
          <a:chExt cx="0" cy="0"/>
        </a:xfrm>
      </p:grpSpPr>
      <p:sp>
        <p:nvSpPr>
          <p:cNvPr id="2" name="Text 0"/>
          <p:cNvSpPr/>
          <p:nvPr/>
        </p:nvSpPr>
        <p:spPr>
          <a:xfrm>
            <a:off x="640080" y="384048"/>
            <a:ext cx="10911535" cy="320040"/>
          </a:xfrm>
          <a:prstGeom prst="rect">
            <a:avLst/>
          </a:prstGeom>
          <a:noFill/>
          <a:ln/>
        </p:spPr>
        <p:txBody>
          <a:bodyPr wrap="square" rtlCol="0" anchor="ctr"/>
          <a:lstStyle/>
          <a:p>
            <a:pPr indent="0" marL="0">
              <a:buNone/>
            </a:pPr>
            <a:r>
              <a:rPr lang="en-US" sz="1300" b="1" spc="200" kern="0" dirty="0">
                <a:solidFill>
                  <a:srgbClr val="FF7A3D"/>
                </a:solidFill>
                <a:latin typeface="Consolas" pitchFamily="34" charset="0"/>
                <a:ea typeface="Consolas" pitchFamily="34" charset="-122"/>
                <a:cs typeface="Consolas" pitchFamily="34" charset="-120"/>
              </a:rPr>
              <a:t>KRITERIJ 4 / 5 — DELUJOČA DEMONSTRACIJA</a:t>
            </a:r>
            <a:endParaRPr lang="en-US" sz="1300" dirty="0"/>
          </a:p>
        </p:txBody>
      </p:sp>
      <p:sp>
        <p:nvSpPr>
          <p:cNvPr id="3" name="Text 1"/>
          <p:cNvSpPr/>
          <p:nvPr/>
        </p:nvSpPr>
        <p:spPr>
          <a:xfrm>
            <a:off x="640080" y="658368"/>
            <a:ext cx="10911535" cy="822960"/>
          </a:xfrm>
          <a:prstGeom prst="rect">
            <a:avLst/>
          </a:prstGeom>
          <a:noFill/>
          <a:ln/>
        </p:spPr>
        <p:txBody>
          <a:bodyPr wrap="square" rtlCol="0" anchor="ctr"/>
          <a:lstStyle/>
          <a:p>
            <a:pPr indent="0" marL="0">
              <a:buNone/>
            </a:pPr>
            <a:r>
              <a:rPr lang="en-US" sz="3000" b="1" dirty="0">
                <a:solidFill>
                  <a:srgbClr val="EEF1F0"/>
                </a:solidFill>
                <a:latin typeface="Arial Black" pitchFamily="34" charset="0"/>
                <a:ea typeface="Arial Black" pitchFamily="34" charset="-122"/>
                <a:cs typeface="Arial Black" pitchFamily="34" charset="-120"/>
              </a:rPr>
              <a:t>Posnetki zaslona — vznožje in vzpon</a:t>
            </a:r>
            <a:endParaRPr lang="en-US" sz="3000" dirty="0"/>
          </a:p>
        </p:txBody>
      </p:sp>
      <p:sp>
        <p:nvSpPr>
          <p:cNvPr id="4" name="Shape 2"/>
          <p:cNvSpPr/>
          <p:nvPr/>
        </p:nvSpPr>
        <p:spPr>
          <a:xfrm>
            <a:off x="640080" y="1417320"/>
            <a:ext cx="1280160" cy="0"/>
          </a:xfrm>
          <a:prstGeom prst="line">
            <a:avLst/>
          </a:prstGeom>
          <a:noFill/>
          <a:ln w="38100">
            <a:solidFill>
              <a:srgbClr val="FF7A3D"/>
            </a:solidFill>
            <a:prstDash val="solid"/>
          </a:ln>
        </p:spPr>
      </p:sp>
      <p:pic>
        <p:nvPicPr>
          <p:cNvPr id="5" name="Image 0" descr="C:\Users\Matevž\Desktop\Vzpon-posnetki\01-ground.png">    </p:cNvPr>
          <p:cNvPicPr>
            <a:picLocks noChangeAspect="1"/>
          </p:cNvPicPr>
          <p:nvPr/>
        </p:nvPicPr>
        <p:blipFill>
          <a:blip r:embed="rId1"/>
          <a:stretch>
            <a:fillRect/>
          </a:stretch>
        </p:blipFill>
        <p:spPr>
          <a:xfrm>
            <a:off x="640080" y="1965960"/>
            <a:ext cx="3474720" cy="1954530"/>
          </a:xfrm>
          <a:prstGeom prst="rect">
            <a:avLst/>
          </a:prstGeom>
        </p:spPr>
      </p:pic>
      <p:sp>
        <p:nvSpPr>
          <p:cNvPr id="6" name="Shape 3"/>
          <p:cNvSpPr/>
          <p:nvPr/>
        </p:nvSpPr>
        <p:spPr>
          <a:xfrm>
            <a:off x="640080" y="1965960"/>
            <a:ext cx="3474720" cy="1954530"/>
          </a:xfrm>
          <a:prstGeom prst="rect">
            <a:avLst/>
          </a:prstGeom>
          <a:ln w="12700">
            <a:solidFill>
              <a:srgbClr val="323C44"/>
            </a:solidFill>
            <a:prstDash val="solid"/>
          </a:ln>
        </p:spPr>
      </p:sp>
      <p:sp>
        <p:nvSpPr>
          <p:cNvPr id="7" name="Text 4"/>
          <p:cNvSpPr/>
          <p:nvPr/>
        </p:nvSpPr>
        <p:spPr>
          <a:xfrm>
            <a:off x="640080" y="4030218"/>
            <a:ext cx="3474720" cy="685800"/>
          </a:xfrm>
          <a:prstGeom prst="rect">
            <a:avLst/>
          </a:prstGeom>
          <a:noFill/>
          <a:ln/>
        </p:spPr>
        <p:txBody>
          <a:bodyPr wrap="square" rtlCol="0" anchor="t"/>
          <a:lstStyle/>
          <a:p>
            <a:pPr indent="0" marL="0">
              <a:lnSpc>
                <a:spcPct val="115000"/>
              </a:lnSpc>
              <a:buNone/>
            </a:pPr>
            <a:r>
              <a:rPr lang="en-US" sz="1250" dirty="0">
                <a:solidFill>
                  <a:srgbClr val="9AA7AE"/>
                </a:solidFill>
                <a:latin typeface="Calibri" pitchFamily="34" charset="0"/>
                <a:ea typeface="Calibri" pitchFamily="34" charset="-122"/>
                <a:cs typeface="Calibri" pitchFamily="34" charset="-120"/>
              </a:rPr>
              <a:t>Vznožje stolpa: kotlovnica, strojnica, dimnik in prve hiše Šoštanja v ozadju.</a:t>
            </a:r>
            <a:endParaRPr lang="en-US" sz="1250" dirty="0"/>
          </a:p>
        </p:txBody>
      </p:sp>
      <p:pic>
        <p:nvPicPr>
          <p:cNvPr id="8" name="Image 1" descr="C:\Users\Matevž\Desktop\Vzpon-posnetki\02-tower-close.png">    </p:cNvPr>
          <p:cNvPicPr>
            <a:picLocks noChangeAspect="1"/>
          </p:cNvPicPr>
          <p:nvPr/>
        </p:nvPicPr>
        <p:blipFill>
          <a:blip r:embed="rId2"/>
          <a:stretch>
            <a:fillRect/>
          </a:stretch>
        </p:blipFill>
        <p:spPr>
          <a:xfrm>
            <a:off x="4343400" y="1965960"/>
            <a:ext cx="3474720" cy="1954530"/>
          </a:xfrm>
          <a:prstGeom prst="rect">
            <a:avLst/>
          </a:prstGeom>
        </p:spPr>
      </p:pic>
      <p:sp>
        <p:nvSpPr>
          <p:cNvPr id="9" name="Shape 5"/>
          <p:cNvSpPr/>
          <p:nvPr/>
        </p:nvSpPr>
        <p:spPr>
          <a:xfrm>
            <a:off x="4343400" y="1965960"/>
            <a:ext cx="3474720" cy="1954530"/>
          </a:xfrm>
          <a:prstGeom prst="rect">
            <a:avLst/>
          </a:prstGeom>
          <a:ln w="12700">
            <a:solidFill>
              <a:srgbClr val="323C44"/>
            </a:solidFill>
            <a:prstDash val="solid"/>
          </a:ln>
        </p:spPr>
      </p:sp>
      <p:sp>
        <p:nvSpPr>
          <p:cNvPr id="10" name="Text 6"/>
          <p:cNvSpPr/>
          <p:nvPr/>
        </p:nvSpPr>
        <p:spPr>
          <a:xfrm>
            <a:off x="4343400" y="4030218"/>
            <a:ext cx="3474720" cy="685800"/>
          </a:xfrm>
          <a:prstGeom prst="rect">
            <a:avLst/>
          </a:prstGeom>
          <a:noFill/>
          <a:ln/>
        </p:spPr>
        <p:txBody>
          <a:bodyPr wrap="square" rtlCol="0" anchor="t"/>
          <a:lstStyle/>
          <a:p>
            <a:pPr indent="0" marL="0">
              <a:lnSpc>
                <a:spcPct val="115000"/>
              </a:lnSpc>
              <a:buNone/>
            </a:pPr>
            <a:r>
              <a:rPr lang="en-US" sz="1250" dirty="0">
                <a:solidFill>
                  <a:srgbClr val="9AA7AE"/>
                </a:solidFill>
                <a:latin typeface="Calibri" pitchFamily="34" charset="0"/>
                <a:ea typeface="Calibri" pitchFamily="34" charset="-122"/>
                <a:cs typeface="Calibri" pitchFamily="34" charset="-120"/>
              </a:rPr>
              <a:t>Pogled navzgor tik ob stolpu — lestev sledi ukrivljeni hiperboloidni obliki lupine.</a:t>
            </a:r>
            <a:endParaRPr lang="en-US" sz="1250" dirty="0"/>
          </a:p>
        </p:txBody>
      </p:sp>
      <p:pic>
        <p:nvPicPr>
          <p:cNvPr id="11" name="Image 2" descr="C:\Users\Matevž\Desktop\Vzpon-posnetki\03-climbing.png">    </p:cNvPr>
          <p:cNvPicPr>
            <a:picLocks noChangeAspect="1"/>
          </p:cNvPicPr>
          <p:nvPr/>
        </p:nvPicPr>
        <p:blipFill>
          <a:blip r:embed="rId3"/>
          <a:stretch>
            <a:fillRect/>
          </a:stretch>
        </p:blipFill>
        <p:spPr>
          <a:xfrm>
            <a:off x="8046720" y="1965960"/>
            <a:ext cx="3474720" cy="1954530"/>
          </a:xfrm>
          <a:prstGeom prst="rect">
            <a:avLst/>
          </a:prstGeom>
        </p:spPr>
      </p:pic>
      <p:sp>
        <p:nvSpPr>
          <p:cNvPr id="12" name="Shape 7"/>
          <p:cNvSpPr/>
          <p:nvPr/>
        </p:nvSpPr>
        <p:spPr>
          <a:xfrm>
            <a:off x="8046720" y="1965960"/>
            <a:ext cx="3474720" cy="1954530"/>
          </a:xfrm>
          <a:prstGeom prst="rect">
            <a:avLst/>
          </a:prstGeom>
          <a:ln w="12700">
            <a:solidFill>
              <a:srgbClr val="323C44"/>
            </a:solidFill>
            <a:prstDash val="solid"/>
          </a:ln>
        </p:spPr>
      </p:sp>
      <p:sp>
        <p:nvSpPr>
          <p:cNvPr id="13" name="Text 8"/>
          <p:cNvSpPr/>
          <p:nvPr/>
        </p:nvSpPr>
        <p:spPr>
          <a:xfrm>
            <a:off x="8046720" y="4030218"/>
            <a:ext cx="3474720" cy="685800"/>
          </a:xfrm>
          <a:prstGeom prst="rect">
            <a:avLst/>
          </a:prstGeom>
          <a:noFill/>
          <a:ln/>
        </p:spPr>
        <p:txBody>
          <a:bodyPr wrap="square" rtlCol="0" anchor="t"/>
          <a:lstStyle/>
          <a:p>
            <a:pPr indent="0" marL="0">
              <a:lnSpc>
                <a:spcPct val="115000"/>
              </a:lnSpc>
              <a:buNone/>
            </a:pPr>
            <a:r>
              <a:rPr lang="en-US" sz="1250" dirty="0">
                <a:solidFill>
                  <a:srgbClr val="9AA7AE"/>
                </a:solidFill>
                <a:latin typeface="Calibri" pitchFamily="34" charset="0"/>
                <a:ea typeface="Calibri" pitchFamily="34" charset="-122"/>
                <a:cs typeface="Calibri" pitchFamily="34" charset="-120"/>
              </a:rPr>
              <a:t>Med vzponom: gladko senčena betonska lupina, brez vidnih šivov med ploskvami.</a:t>
            </a:r>
            <a:endParaRPr lang="en-US" sz="1250" dirty="0"/>
          </a:p>
        </p:txBody>
      </p:sp>
      <p:sp>
        <p:nvSpPr>
          <p:cNvPr id="14" name="Text 9"/>
          <p:cNvSpPr/>
          <p:nvPr/>
        </p:nvSpPr>
        <p:spPr>
          <a:xfrm>
            <a:off x="640080" y="6400800"/>
            <a:ext cx="7315200" cy="274320"/>
          </a:xfrm>
          <a:prstGeom prst="rect">
            <a:avLst/>
          </a:prstGeom>
          <a:noFill/>
          <a:ln/>
        </p:spPr>
        <p:txBody>
          <a:bodyPr wrap="square" rtlCol="0" anchor="ctr"/>
          <a:lstStyle/>
          <a:p>
            <a:pPr indent="0" marL="0">
              <a:buNone/>
            </a:pPr>
            <a:r>
              <a:rPr lang="en-US" sz="900" spc="100" kern="0" dirty="0">
                <a:solidFill>
                  <a:srgbClr val="9AA7AE"/>
                </a:solidFill>
                <a:latin typeface="Consolas" pitchFamily="34" charset="0"/>
                <a:ea typeface="Consolas" pitchFamily="34" charset="-122"/>
                <a:cs typeface="Consolas" pitchFamily="34" charset="-120"/>
              </a:rPr>
              <a:t>VZPON — ZGODBA ŠOŠTANJSKE ELEKTRARNE</a:t>
            </a:r>
            <a:endParaRPr lang="en-US" sz="900" dirty="0"/>
          </a:p>
        </p:txBody>
      </p:sp>
      <p:sp>
        <p:nvSpPr>
          <p:cNvPr id="15" name="Text 10"/>
          <p:cNvSpPr/>
          <p:nvPr/>
        </p:nvSpPr>
        <p:spPr>
          <a:xfrm>
            <a:off x="7894015" y="6400800"/>
            <a:ext cx="3657600" cy="274320"/>
          </a:xfrm>
          <a:prstGeom prst="rect">
            <a:avLst/>
          </a:prstGeom>
          <a:noFill/>
          <a:ln/>
        </p:spPr>
        <p:txBody>
          <a:bodyPr wrap="square" rtlCol="0" anchor="ctr"/>
          <a:lstStyle/>
          <a:p>
            <a:pPr algn="r" indent="0" marL="0">
              <a:buNone/>
            </a:pPr>
            <a:r>
              <a:rPr lang="en-US" sz="900" dirty="0">
                <a:solidFill>
                  <a:srgbClr val="9AA7AE"/>
                </a:solidFill>
                <a:latin typeface="Consolas" pitchFamily="34" charset="0"/>
                <a:ea typeface="Consolas" pitchFamily="34" charset="-122"/>
                <a:cs typeface="Consolas"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81D"/>
        </a:solidFill>
      </p:bgPr>
    </p:bg>
    <p:spTree>
      <p:nvGrpSpPr>
        <p:cNvPr id="1" name=""/>
        <p:cNvGrpSpPr/>
        <p:nvPr/>
      </p:nvGrpSpPr>
      <p:grpSpPr>
        <a:xfrm>
          <a:off x="0" y="0"/>
          <a:ext cx="0" cy="0"/>
          <a:chOff x="0" y="0"/>
          <a:chExt cx="0" cy="0"/>
        </a:xfrm>
      </p:grpSpPr>
      <p:sp>
        <p:nvSpPr>
          <p:cNvPr id="2" name="Text 0"/>
          <p:cNvSpPr/>
          <p:nvPr/>
        </p:nvSpPr>
        <p:spPr>
          <a:xfrm>
            <a:off x="640080" y="384048"/>
            <a:ext cx="10911535" cy="320040"/>
          </a:xfrm>
          <a:prstGeom prst="rect">
            <a:avLst/>
          </a:prstGeom>
          <a:noFill/>
          <a:ln/>
        </p:spPr>
        <p:txBody>
          <a:bodyPr wrap="square" rtlCol="0" anchor="ctr"/>
          <a:lstStyle/>
          <a:p>
            <a:pPr indent="0" marL="0">
              <a:buNone/>
            </a:pPr>
            <a:r>
              <a:rPr lang="en-US" sz="1300" b="1" spc="200" kern="0" dirty="0">
                <a:solidFill>
                  <a:srgbClr val="FF7A3D"/>
                </a:solidFill>
                <a:latin typeface="Consolas" pitchFamily="34" charset="0"/>
                <a:ea typeface="Consolas" pitchFamily="34" charset="-122"/>
                <a:cs typeface="Consolas" pitchFamily="34" charset="-120"/>
              </a:rPr>
              <a:t>KRITERIJ 4 / 5 — DELUJOČA DEMONSTRACIJA</a:t>
            </a:r>
            <a:endParaRPr lang="en-US" sz="1300" dirty="0"/>
          </a:p>
        </p:txBody>
      </p:sp>
      <p:sp>
        <p:nvSpPr>
          <p:cNvPr id="3" name="Text 1"/>
          <p:cNvSpPr/>
          <p:nvPr/>
        </p:nvSpPr>
        <p:spPr>
          <a:xfrm>
            <a:off x="640080" y="658368"/>
            <a:ext cx="10911535" cy="822960"/>
          </a:xfrm>
          <a:prstGeom prst="rect">
            <a:avLst/>
          </a:prstGeom>
          <a:noFill/>
          <a:ln/>
        </p:spPr>
        <p:txBody>
          <a:bodyPr wrap="square" rtlCol="0" anchor="ctr"/>
          <a:lstStyle/>
          <a:p>
            <a:pPr indent="0" marL="0">
              <a:buNone/>
            </a:pPr>
            <a:r>
              <a:rPr lang="en-US" sz="3000" b="1" dirty="0">
                <a:solidFill>
                  <a:srgbClr val="EEF1F0"/>
                </a:solidFill>
                <a:latin typeface="Arial Black" pitchFamily="34" charset="0"/>
                <a:ea typeface="Arial Black" pitchFamily="34" charset="-122"/>
                <a:cs typeface="Arial Black" pitchFamily="34" charset="-120"/>
              </a:rPr>
              <a:t>Posnetki zaslona — vrh in žrelo</a:t>
            </a:r>
            <a:endParaRPr lang="en-US" sz="3000" dirty="0"/>
          </a:p>
        </p:txBody>
      </p:sp>
      <p:sp>
        <p:nvSpPr>
          <p:cNvPr id="4" name="Shape 2"/>
          <p:cNvSpPr/>
          <p:nvPr/>
        </p:nvSpPr>
        <p:spPr>
          <a:xfrm>
            <a:off x="640080" y="1417320"/>
            <a:ext cx="1280160" cy="0"/>
          </a:xfrm>
          <a:prstGeom prst="line">
            <a:avLst/>
          </a:prstGeom>
          <a:noFill/>
          <a:ln w="38100">
            <a:solidFill>
              <a:srgbClr val="FF7A3D"/>
            </a:solidFill>
            <a:prstDash val="solid"/>
          </a:ln>
        </p:spPr>
      </p:sp>
      <p:pic>
        <p:nvPicPr>
          <p:cNvPr id="5" name="Image 0" descr="C:\Users\Matevž\Desktop\Vzpon-posnetki\04-top.png">    </p:cNvPr>
          <p:cNvPicPr>
            <a:picLocks noChangeAspect="1"/>
          </p:cNvPicPr>
          <p:nvPr/>
        </p:nvPicPr>
        <p:blipFill>
          <a:blip r:embed="rId1"/>
          <a:stretch>
            <a:fillRect/>
          </a:stretch>
        </p:blipFill>
        <p:spPr>
          <a:xfrm>
            <a:off x="640080" y="1965960"/>
            <a:ext cx="3474720" cy="1954530"/>
          </a:xfrm>
          <a:prstGeom prst="rect">
            <a:avLst/>
          </a:prstGeom>
        </p:spPr>
      </p:pic>
      <p:sp>
        <p:nvSpPr>
          <p:cNvPr id="6" name="Shape 3"/>
          <p:cNvSpPr/>
          <p:nvPr/>
        </p:nvSpPr>
        <p:spPr>
          <a:xfrm>
            <a:off x="640080" y="1965960"/>
            <a:ext cx="3474720" cy="1954530"/>
          </a:xfrm>
          <a:prstGeom prst="rect">
            <a:avLst/>
          </a:prstGeom>
          <a:ln w="12700">
            <a:solidFill>
              <a:srgbClr val="323C44"/>
            </a:solidFill>
            <a:prstDash val="solid"/>
          </a:ln>
        </p:spPr>
      </p:sp>
      <p:sp>
        <p:nvSpPr>
          <p:cNvPr id="7" name="Text 4"/>
          <p:cNvSpPr/>
          <p:nvPr/>
        </p:nvSpPr>
        <p:spPr>
          <a:xfrm>
            <a:off x="640080" y="4030218"/>
            <a:ext cx="3474720" cy="685800"/>
          </a:xfrm>
          <a:prstGeom prst="rect">
            <a:avLst/>
          </a:prstGeom>
          <a:noFill/>
          <a:ln/>
        </p:spPr>
        <p:txBody>
          <a:bodyPr wrap="square" rtlCol="0" anchor="t"/>
          <a:lstStyle/>
          <a:p>
            <a:pPr indent="0" marL="0">
              <a:lnSpc>
                <a:spcPct val="115000"/>
              </a:lnSpc>
              <a:buNone/>
            </a:pPr>
            <a:r>
              <a:rPr lang="en-US" sz="1250" dirty="0">
                <a:solidFill>
                  <a:srgbClr val="9AA7AE"/>
                </a:solidFill>
                <a:latin typeface="Calibri" pitchFamily="34" charset="0"/>
                <a:ea typeface="Calibri" pitchFamily="34" charset="-122"/>
                <a:cs typeface="Calibri" pitchFamily="34" charset="-120"/>
              </a:rPr>
              <a:t>Razgled z galerije na vrhu: Šaleška dolina, gozdnati grebeni, Velenjsko jezero v daljavi.</a:t>
            </a:r>
            <a:endParaRPr lang="en-US" sz="1250" dirty="0"/>
          </a:p>
        </p:txBody>
      </p:sp>
      <p:pic>
        <p:nvPicPr>
          <p:cNvPr id="8" name="Image 1" descr="C:\Users\Matevž\Desktop\Vzpon-posnetki\05-shaft.png">    </p:cNvPr>
          <p:cNvPicPr>
            <a:picLocks noChangeAspect="1"/>
          </p:cNvPicPr>
          <p:nvPr/>
        </p:nvPicPr>
        <p:blipFill>
          <a:blip r:embed="rId2"/>
          <a:stretch>
            <a:fillRect/>
          </a:stretch>
        </p:blipFill>
        <p:spPr>
          <a:xfrm>
            <a:off x="4343400" y="1965960"/>
            <a:ext cx="3474720" cy="1954530"/>
          </a:xfrm>
          <a:prstGeom prst="rect">
            <a:avLst/>
          </a:prstGeom>
        </p:spPr>
      </p:pic>
      <p:sp>
        <p:nvSpPr>
          <p:cNvPr id="9" name="Shape 5"/>
          <p:cNvSpPr/>
          <p:nvPr/>
        </p:nvSpPr>
        <p:spPr>
          <a:xfrm>
            <a:off x="4343400" y="1965960"/>
            <a:ext cx="3474720" cy="1954530"/>
          </a:xfrm>
          <a:prstGeom prst="rect">
            <a:avLst/>
          </a:prstGeom>
          <a:ln w="12700">
            <a:solidFill>
              <a:srgbClr val="323C44"/>
            </a:solidFill>
            <a:prstDash val="solid"/>
          </a:ln>
        </p:spPr>
      </p:sp>
      <p:sp>
        <p:nvSpPr>
          <p:cNvPr id="10" name="Text 6"/>
          <p:cNvSpPr/>
          <p:nvPr/>
        </p:nvSpPr>
        <p:spPr>
          <a:xfrm>
            <a:off x="4343400" y="4030218"/>
            <a:ext cx="3474720" cy="685800"/>
          </a:xfrm>
          <a:prstGeom prst="rect">
            <a:avLst/>
          </a:prstGeom>
          <a:noFill/>
          <a:ln/>
        </p:spPr>
        <p:txBody>
          <a:bodyPr wrap="square" rtlCol="0" anchor="t"/>
          <a:lstStyle/>
          <a:p>
            <a:pPr indent="0" marL="0">
              <a:lnSpc>
                <a:spcPct val="115000"/>
              </a:lnSpc>
              <a:buNone/>
            </a:pPr>
            <a:r>
              <a:rPr lang="en-US" sz="1250" dirty="0">
                <a:solidFill>
                  <a:srgbClr val="9AA7AE"/>
                </a:solidFill>
                <a:latin typeface="Calibri" pitchFamily="34" charset="0"/>
                <a:ea typeface="Calibri" pitchFamily="34" charset="-122"/>
                <a:cs typeface="Calibri" pitchFamily="34" charset="-120"/>
              </a:rPr>
              <a:t>Pogled v odprto žrelo hladilnega stolpa — pravi stolp je votel, ne poln.</a:t>
            </a:r>
            <a:endParaRPr lang="en-US" sz="1250" dirty="0"/>
          </a:p>
        </p:txBody>
      </p:sp>
      <p:pic>
        <p:nvPicPr>
          <p:cNvPr id="11" name="Image 2" descr="C:\Users\Matevž\Desktop\Vzpon-posnetki\06-plume.png">    </p:cNvPr>
          <p:cNvPicPr>
            <a:picLocks noChangeAspect="1"/>
          </p:cNvPicPr>
          <p:nvPr/>
        </p:nvPicPr>
        <p:blipFill>
          <a:blip r:embed="rId3"/>
          <a:stretch>
            <a:fillRect/>
          </a:stretch>
        </p:blipFill>
        <p:spPr>
          <a:xfrm>
            <a:off x="8046720" y="1965960"/>
            <a:ext cx="3474720" cy="1954530"/>
          </a:xfrm>
          <a:prstGeom prst="rect">
            <a:avLst/>
          </a:prstGeom>
        </p:spPr>
      </p:pic>
      <p:sp>
        <p:nvSpPr>
          <p:cNvPr id="12" name="Shape 7"/>
          <p:cNvSpPr/>
          <p:nvPr/>
        </p:nvSpPr>
        <p:spPr>
          <a:xfrm>
            <a:off x="8046720" y="1965960"/>
            <a:ext cx="3474720" cy="1954530"/>
          </a:xfrm>
          <a:prstGeom prst="rect">
            <a:avLst/>
          </a:prstGeom>
          <a:ln w="12700">
            <a:solidFill>
              <a:srgbClr val="323C44"/>
            </a:solidFill>
            <a:prstDash val="solid"/>
          </a:ln>
        </p:spPr>
      </p:sp>
      <p:sp>
        <p:nvSpPr>
          <p:cNvPr id="13" name="Text 8"/>
          <p:cNvSpPr/>
          <p:nvPr/>
        </p:nvSpPr>
        <p:spPr>
          <a:xfrm>
            <a:off x="8046720" y="4030218"/>
            <a:ext cx="3474720" cy="685800"/>
          </a:xfrm>
          <a:prstGeom prst="rect">
            <a:avLst/>
          </a:prstGeom>
          <a:noFill/>
          <a:ln/>
        </p:spPr>
        <p:txBody>
          <a:bodyPr wrap="square" rtlCol="0" anchor="t"/>
          <a:lstStyle/>
          <a:p>
            <a:pPr indent="0" marL="0">
              <a:lnSpc>
                <a:spcPct val="115000"/>
              </a:lnSpc>
              <a:buNone/>
            </a:pPr>
            <a:r>
              <a:rPr lang="en-US" sz="1250" dirty="0">
                <a:solidFill>
                  <a:srgbClr val="9AA7AE"/>
                </a:solidFill>
                <a:latin typeface="Calibri" pitchFamily="34" charset="0"/>
                <a:ea typeface="Calibri" pitchFamily="34" charset="-122"/>
                <a:cs typeface="Calibri" pitchFamily="34" charset="-120"/>
              </a:rPr>
              <a:t>Para se dviga iz žrela in se nagne v smeri vetra — natančno kot pri pravem TEŠ.</a:t>
            </a:r>
            <a:endParaRPr lang="en-US" sz="1250" dirty="0"/>
          </a:p>
        </p:txBody>
      </p:sp>
      <p:sp>
        <p:nvSpPr>
          <p:cNvPr id="14" name="Text 9"/>
          <p:cNvSpPr/>
          <p:nvPr/>
        </p:nvSpPr>
        <p:spPr>
          <a:xfrm>
            <a:off x="640080" y="6400800"/>
            <a:ext cx="7315200" cy="274320"/>
          </a:xfrm>
          <a:prstGeom prst="rect">
            <a:avLst/>
          </a:prstGeom>
          <a:noFill/>
          <a:ln/>
        </p:spPr>
        <p:txBody>
          <a:bodyPr wrap="square" rtlCol="0" anchor="ctr"/>
          <a:lstStyle/>
          <a:p>
            <a:pPr indent="0" marL="0">
              <a:buNone/>
            </a:pPr>
            <a:r>
              <a:rPr lang="en-US" sz="900" spc="100" kern="0" dirty="0">
                <a:solidFill>
                  <a:srgbClr val="9AA7AE"/>
                </a:solidFill>
                <a:latin typeface="Consolas" pitchFamily="34" charset="0"/>
                <a:ea typeface="Consolas" pitchFamily="34" charset="-122"/>
                <a:cs typeface="Consolas" pitchFamily="34" charset="-120"/>
              </a:rPr>
              <a:t>VZPON — ZGODBA ŠOŠTANJSKE ELEKTRARNE</a:t>
            </a:r>
            <a:endParaRPr lang="en-US" sz="900" dirty="0"/>
          </a:p>
        </p:txBody>
      </p:sp>
      <p:sp>
        <p:nvSpPr>
          <p:cNvPr id="15" name="Text 10"/>
          <p:cNvSpPr/>
          <p:nvPr/>
        </p:nvSpPr>
        <p:spPr>
          <a:xfrm>
            <a:off x="7894015" y="6400800"/>
            <a:ext cx="3657600" cy="274320"/>
          </a:xfrm>
          <a:prstGeom prst="rect">
            <a:avLst/>
          </a:prstGeom>
          <a:noFill/>
          <a:ln/>
        </p:spPr>
        <p:txBody>
          <a:bodyPr wrap="square" rtlCol="0" anchor="ctr"/>
          <a:lstStyle/>
          <a:p>
            <a:pPr algn="r" indent="0" marL="0">
              <a:buNone/>
            </a:pPr>
            <a:r>
              <a:rPr lang="en-US" sz="900" dirty="0">
                <a:solidFill>
                  <a:srgbClr val="9AA7AE"/>
                </a:solidFill>
                <a:latin typeface="Consolas" pitchFamily="34" charset="0"/>
                <a:ea typeface="Consolas" pitchFamily="34" charset="-122"/>
                <a:cs typeface="Consolas"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81D"/>
        </a:solidFill>
      </p:bgPr>
    </p:bg>
    <p:spTree>
      <p:nvGrpSpPr>
        <p:cNvPr id="1" name=""/>
        <p:cNvGrpSpPr/>
        <p:nvPr/>
      </p:nvGrpSpPr>
      <p:grpSpPr>
        <a:xfrm>
          <a:off x="0" y="0"/>
          <a:ext cx="0" cy="0"/>
          <a:chOff x="0" y="0"/>
          <a:chExt cx="0" cy="0"/>
        </a:xfrm>
      </p:grpSpPr>
      <p:sp>
        <p:nvSpPr>
          <p:cNvPr id="2" name="Text 0"/>
          <p:cNvSpPr/>
          <p:nvPr/>
        </p:nvSpPr>
        <p:spPr>
          <a:xfrm>
            <a:off x="640080" y="384048"/>
            <a:ext cx="10911535" cy="320040"/>
          </a:xfrm>
          <a:prstGeom prst="rect">
            <a:avLst/>
          </a:prstGeom>
          <a:noFill/>
          <a:ln/>
        </p:spPr>
        <p:txBody>
          <a:bodyPr wrap="square" rtlCol="0" anchor="ctr"/>
          <a:lstStyle/>
          <a:p>
            <a:pPr indent="0" marL="0">
              <a:buNone/>
            </a:pPr>
            <a:r>
              <a:rPr lang="en-US" sz="1300" b="1" spc="200" kern="0" dirty="0">
                <a:solidFill>
                  <a:srgbClr val="FF7A3D"/>
                </a:solidFill>
                <a:latin typeface="Consolas" pitchFamily="34" charset="0"/>
                <a:ea typeface="Consolas" pitchFamily="34" charset="-122"/>
                <a:cs typeface="Consolas" pitchFamily="34" charset="-120"/>
              </a:rPr>
              <a:t>KRITERIJ 5 / 5 — DODANA VREDNOST</a:t>
            </a:r>
            <a:endParaRPr lang="en-US" sz="1300" dirty="0"/>
          </a:p>
        </p:txBody>
      </p:sp>
      <p:sp>
        <p:nvSpPr>
          <p:cNvPr id="3" name="Text 1"/>
          <p:cNvSpPr/>
          <p:nvPr/>
        </p:nvSpPr>
        <p:spPr>
          <a:xfrm>
            <a:off x="640080" y="658368"/>
            <a:ext cx="10911535" cy="822960"/>
          </a:xfrm>
          <a:prstGeom prst="rect">
            <a:avLst/>
          </a:prstGeom>
          <a:noFill/>
          <a:ln/>
        </p:spPr>
        <p:txBody>
          <a:bodyPr wrap="square" rtlCol="0" anchor="ctr"/>
          <a:lstStyle/>
          <a:p>
            <a:pPr indent="0" marL="0">
              <a:buNone/>
            </a:pPr>
            <a:r>
              <a:rPr lang="en-US" sz="3000" b="1" dirty="0">
                <a:solidFill>
                  <a:srgbClr val="EEF1F0"/>
                </a:solidFill>
                <a:latin typeface="Arial Black" pitchFamily="34" charset="0"/>
                <a:ea typeface="Arial Black" pitchFamily="34" charset="-122"/>
                <a:cs typeface="Arial Black" pitchFamily="34" charset="-120"/>
              </a:rPr>
              <a:t>Zakaj je to vredno</a:t>
            </a:r>
            <a:endParaRPr lang="en-US" sz="3000" dirty="0"/>
          </a:p>
        </p:txBody>
      </p:sp>
      <p:sp>
        <p:nvSpPr>
          <p:cNvPr id="4" name="Shape 2"/>
          <p:cNvSpPr/>
          <p:nvPr/>
        </p:nvSpPr>
        <p:spPr>
          <a:xfrm>
            <a:off x="640080" y="1417320"/>
            <a:ext cx="1280160" cy="0"/>
          </a:xfrm>
          <a:prstGeom prst="line">
            <a:avLst/>
          </a:prstGeom>
          <a:noFill/>
          <a:ln w="38100">
            <a:solidFill>
              <a:srgbClr val="FF7A3D"/>
            </a:solidFill>
            <a:prstDash val="solid"/>
          </a:ln>
        </p:spPr>
      </p:sp>
      <p:sp>
        <p:nvSpPr>
          <p:cNvPr id="5" name="Shape 3"/>
          <p:cNvSpPr/>
          <p:nvPr/>
        </p:nvSpPr>
        <p:spPr>
          <a:xfrm>
            <a:off x="640080" y="1920240"/>
            <a:ext cx="10881360" cy="1188720"/>
          </a:xfrm>
          <a:prstGeom prst="roundRect">
            <a:avLst>
              <a:gd name="adj" fmla="val 4615"/>
            </a:avLst>
          </a:prstGeom>
          <a:solidFill>
            <a:srgbClr val="1B2127"/>
          </a:solidFill>
          <a:ln w="12700">
            <a:solidFill>
              <a:srgbClr val="323C44"/>
            </a:solidFill>
            <a:prstDash val="solid"/>
          </a:ln>
        </p:spPr>
      </p:sp>
      <p:sp>
        <p:nvSpPr>
          <p:cNvPr id="6" name="Shape 4"/>
          <p:cNvSpPr/>
          <p:nvPr/>
        </p:nvSpPr>
        <p:spPr>
          <a:xfrm>
            <a:off x="640080" y="1920240"/>
            <a:ext cx="64008" cy="1188720"/>
          </a:xfrm>
          <a:prstGeom prst="rect">
            <a:avLst/>
          </a:prstGeom>
          <a:solidFill>
            <a:srgbClr val="FF7A3D"/>
          </a:solidFill>
          <a:ln/>
        </p:spPr>
      </p:sp>
      <p:sp>
        <p:nvSpPr>
          <p:cNvPr id="7" name="Text 5"/>
          <p:cNvSpPr/>
          <p:nvPr/>
        </p:nvSpPr>
        <p:spPr>
          <a:xfrm>
            <a:off x="914400" y="2148840"/>
            <a:ext cx="822960" cy="731520"/>
          </a:xfrm>
          <a:prstGeom prst="rect">
            <a:avLst/>
          </a:prstGeom>
          <a:noFill/>
          <a:ln/>
        </p:spPr>
        <p:txBody>
          <a:bodyPr wrap="square" rtlCol="0" anchor="ctr"/>
          <a:lstStyle/>
          <a:p>
            <a:pPr indent="0" marL="0">
              <a:buNone/>
            </a:pPr>
            <a:r>
              <a:rPr lang="en-US" sz="3000" dirty="0">
                <a:solidFill>
                  <a:srgbClr val="000000"/>
                </a:solidFill>
              </a:rPr>
              <a:t>🔓</a:t>
            </a:r>
            <a:endParaRPr lang="en-US" sz="3000" dirty="0"/>
          </a:p>
        </p:txBody>
      </p:sp>
      <p:sp>
        <p:nvSpPr>
          <p:cNvPr id="8" name="Text 6"/>
          <p:cNvSpPr/>
          <p:nvPr/>
        </p:nvSpPr>
        <p:spPr>
          <a:xfrm>
            <a:off x="1828800" y="2084832"/>
            <a:ext cx="2926080" cy="822960"/>
          </a:xfrm>
          <a:prstGeom prst="rect">
            <a:avLst/>
          </a:prstGeom>
          <a:noFill/>
          <a:ln/>
        </p:spPr>
        <p:txBody>
          <a:bodyPr wrap="square" rtlCol="0" anchor="ctr"/>
          <a:lstStyle/>
          <a:p>
            <a:pPr indent="0" marL="0">
              <a:buNone/>
            </a:pPr>
            <a:r>
              <a:rPr lang="en-US" sz="1700" b="1" dirty="0">
                <a:solidFill>
                  <a:srgbClr val="EEF1F0"/>
                </a:solidFill>
                <a:latin typeface="Arial Black" pitchFamily="34" charset="0"/>
                <a:ea typeface="Arial Black" pitchFamily="34" charset="-122"/>
                <a:cs typeface="Arial Black" pitchFamily="34" charset="-120"/>
              </a:rPr>
              <a:t>Varen dostop</a:t>
            </a:r>
            <a:endParaRPr lang="en-US" sz="1700" dirty="0"/>
          </a:p>
        </p:txBody>
      </p:sp>
      <p:sp>
        <p:nvSpPr>
          <p:cNvPr id="9" name="Text 7"/>
          <p:cNvSpPr/>
          <p:nvPr/>
        </p:nvSpPr>
        <p:spPr>
          <a:xfrm>
            <a:off x="4846320" y="2084832"/>
            <a:ext cx="6492240" cy="822960"/>
          </a:xfrm>
          <a:prstGeom prst="rect">
            <a:avLst/>
          </a:prstGeom>
          <a:noFill/>
          <a:ln/>
        </p:spPr>
        <p:txBody>
          <a:bodyPr wrap="square" rtlCol="0" anchor="ctr"/>
          <a:lstStyle/>
          <a:p>
            <a:pPr indent="0" marL="0">
              <a:lnSpc>
                <a:spcPct val="120000"/>
              </a:lnSpc>
              <a:buNone/>
            </a:pPr>
            <a:r>
              <a:rPr lang="en-US" sz="1350" dirty="0">
                <a:solidFill>
                  <a:srgbClr val="9AA7AE"/>
                </a:solidFill>
                <a:latin typeface="Calibri" pitchFamily="34" charset="0"/>
                <a:ea typeface="Calibri" pitchFamily="34" charset="-122"/>
                <a:cs typeface="Calibri" pitchFamily="34" charset="-120"/>
              </a:rPr>
              <a:t>do sicer nedostopnega industrijskega prostora — brez varnostnega tveganja fizičnega plezanja</a:t>
            </a:r>
            <a:endParaRPr lang="en-US" sz="1350" dirty="0"/>
          </a:p>
        </p:txBody>
      </p:sp>
      <p:sp>
        <p:nvSpPr>
          <p:cNvPr id="10" name="Shape 8"/>
          <p:cNvSpPr/>
          <p:nvPr/>
        </p:nvSpPr>
        <p:spPr>
          <a:xfrm>
            <a:off x="640080" y="3337560"/>
            <a:ext cx="10881360" cy="1188720"/>
          </a:xfrm>
          <a:prstGeom prst="roundRect">
            <a:avLst>
              <a:gd name="adj" fmla="val 4615"/>
            </a:avLst>
          </a:prstGeom>
          <a:solidFill>
            <a:srgbClr val="1B2127"/>
          </a:solidFill>
          <a:ln w="12700">
            <a:solidFill>
              <a:srgbClr val="323C44"/>
            </a:solidFill>
            <a:prstDash val="solid"/>
          </a:ln>
        </p:spPr>
      </p:sp>
      <p:sp>
        <p:nvSpPr>
          <p:cNvPr id="11" name="Shape 9"/>
          <p:cNvSpPr/>
          <p:nvPr/>
        </p:nvSpPr>
        <p:spPr>
          <a:xfrm>
            <a:off x="640080" y="3337560"/>
            <a:ext cx="64008" cy="1188720"/>
          </a:xfrm>
          <a:prstGeom prst="rect">
            <a:avLst/>
          </a:prstGeom>
          <a:solidFill>
            <a:srgbClr val="FF7A3D"/>
          </a:solidFill>
          <a:ln/>
        </p:spPr>
      </p:sp>
      <p:sp>
        <p:nvSpPr>
          <p:cNvPr id="12" name="Text 10"/>
          <p:cNvSpPr/>
          <p:nvPr/>
        </p:nvSpPr>
        <p:spPr>
          <a:xfrm>
            <a:off x="914400" y="3566160"/>
            <a:ext cx="822960" cy="731520"/>
          </a:xfrm>
          <a:prstGeom prst="rect">
            <a:avLst/>
          </a:prstGeom>
          <a:noFill/>
          <a:ln/>
        </p:spPr>
        <p:txBody>
          <a:bodyPr wrap="square" rtlCol="0" anchor="ctr"/>
          <a:lstStyle/>
          <a:p>
            <a:pPr indent="0" marL="0">
              <a:buNone/>
            </a:pPr>
            <a:r>
              <a:rPr lang="en-US" sz="3000" dirty="0">
                <a:solidFill>
                  <a:srgbClr val="000000"/>
                </a:solidFill>
              </a:rPr>
              <a:t>📚</a:t>
            </a:r>
            <a:endParaRPr lang="en-US" sz="3000" dirty="0"/>
          </a:p>
        </p:txBody>
      </p:sp>
      <p:sp>
        <p:nvSpPr>
          <p:cNvPr id="13" name="Text 11"/>
          <p:cNvSpPr/>
          <p:nvPr/>
        </p:nvSpPr>
        <p:spPr>
          <a:xfrm>
            <a:off x="1828800" y="3502152"/>
            <a:ext cx="2926080" cy="822960"/>
          </a:xfrm>
          <a:prstGeom prst="rect">
            <a:avLst/>
          </a:prstGeom>
          <a:noFill/>
          <a:ln/>
        </p:spPr>
        <p:txBody>
          <a:bodyPr wrap="square" rtlCol="0" anchor="ctr"/>
          <a:lstStyle/>
          <a:p>
            <a:pPr indent="0" marL="0">
              <a:buNone/>
            </a:pPr>
            <a:r>
              <a:rPr lang="en-US" sz="1700" b="1" dirty="0">
                <a:solidFill>
                  <a:srgbClr val="EEF1F0"/>
                </a:solidFill>
                <a:latin typeface="Arial Black" pitchFamily="34" charset="0"/>
                <a:ea typeface="Arial Black" pitchFamily="34" charset="-122"/>
                <a:cs typeface="Arial Black" pitchFamily="34" charset="-120"/>
              </a:rPr>
              <a:t>Izkustvena zgodovina</a:t>
            </a:r>
            <a:endParaRPr lang="en-US" sz="1700" dirty="0"/>
          </a:p>
        </p:txBody>
      </p:sp>
      <p:sp>
        <p:nvSpPr>
          <p:cNvPr id="14" name="Text 12"/>
          <p:cNvSpPr/>
          <p:nvPr/>
        </p:nvSpPr>
        <p:spPr>
          <a:xfrm>
            <a:off x="4846320" y="3502152"/>
            <a:ext cx="6492240" cy="822960"/>
          </a:xfrm>
          <a:prstGeom prst="rect">
            <a:avLst/>
          </a:prstGeom>
          <a:noFill/>
          <a:ln/>
        </p:spPr>
        <p:txBody>
          <a:bodyPr wrap="square" rtlCol="0" anchor="ctr"/>
          <a:lstStyle/>
          <a:p>
            <a:pPr indent="0" marL="0">
              <a:lnSpc>
                <a:spcPct val="120000"/>
              </a:lnSpc>
              <a:buNone/>
            </a:pPr>
            <a:r>
              <a:rPr lang="en-US" sz="1350" dirty="0">
                <a:solidFill>
                  <a:srgbClr val="9AA7AE"/>
                </a:solidFill>
                <a:latin typeface="Calibri" pitchFamily="34" charset="0"/>
                <a:ea typeface="Calibri" pitchFamily="34" charset="-122"/>
                <a:cs typeface="Calibri" pitchFamily="34" charset="-120"/>
              </a:rPr>
              <a:t>pot do zgodovine slovenske energetike, ne le muzejska tabla z besedilom</a:t>
            </a:r>
            <a:endParaRPr lang="en-US" sz="1350" dirty="0"/>
          </a:p>
        </p:txBody>
      </p:sp>
      <p:sp>
        <p:nvSpPr>
          <p:cNvPr id="15" name="Shape 13"/>
          <p:cNvSpPr/>
          <p:nvPr/>
        </p:nvSpPr>
        <p:spPr>
          <a:xfrm>
            <a:off x="640080" y="4754880"/>
            <a:ext cx="10881360" cy="1188720"/>
          </a:xfrm>
          <a:prstGeom prst="roundRect">
            <a:avLst>
              <a:gd name="adj" fmla="val 4615"/>
            </a:avLst>
          </a:prstGeom>
          <a:solidFill>
            <a:srgbClr val="1B2127"/>
          </a:solidFill>
          <a:ln w="12700">
            <a:solidFill>
              <a:srgbClr val="323C44"/>
            </a:solidFill>
            <a:prstDash val="solid"/>
          </a:ln>
        </p:spPr>
      </p:sp>
      <p:sp>
        <p:nvSpPr>
          <p:cNvPr id="16" name="Shape 14"/>
          <p:cNvSpPr/>
          <p:nvPr/>
        </p:nvSpPr>
        <p:spPr>
          <a:xfrm>
            <a:off x="640080" y="4754880"/>
            <a:ext cx="64008" cy="1188720"/>
          </a:xfrm>
          <a:prstGeom prst="rect">
            <a:avLst/>
          </a:prstGeom>
          <a:solidFill>
            <a:srgbClr val="FF7A3D"/>
          </a:solidFill>
          <a:ln/>
        </p:spPr>
      </p:sp>
      <p:sp>
        <p:nvSpPr>
          <p:cNvPr id="17" name="Text 15"/>
          <p:cNvSpPr/>
          <p:nvPr/>
        </p:nvSpPr>
        <p:spPr>
          <a:xfrm>
            <a:off x="914400" y="4983480"/>
            <a:ext cx="822960" cy="731520"/>
          </a:xfrm>
          <a:prstGeom prst="rect">
            <a:avLst/>
          </a:prstGeom>
          <a:noFill/>
          <a:ln/>
        </p:spPr>
        <p:txBody>
          <a:bodyPr wrap="square" rtlCol="0" anchor="ctr"/>
          <a:lstStyle/>
          <a:p>
            <a:pPr indent="0" marL="0">
              <a:buNone/>
            </a:pPr>
            <a:r>
              <a:rPr lang="en-US" sz="3000" dirty="0">
                <a:solidFill>
                  <a:srgbClr val="000000"/>
                </a:solidFill>
              </a:rPr>
              <a:t>🧠</a:t>
            </a:r>
            <a:endParaRPr lang="en-US" sz="3000" dirty="0"/>
          </a:p>
        </p:txBody>
      </p:sp>
      <p:sp>
        <p:nvSpPr>
          <p:cNvPr id="18" name="Text 16"/>
          <p:cNvSpPr/>
          <p:nvPr/>
        </p:nvSpPr>
        <p:spPr>
          <a:xfrm>
            <a:off x="1828800" y="4919472"/>
            <a:ext cx="2926080" cy="822960"/>
          </a:xfrm>
          <a:prstGeom prst="rect">
            <a:avLst/>
          </a:prstGeom>
          <a:noFill/>
          <a:ln/>
        </p:spPr>
        <p:txBody>
          <a:bodyPr wrap="square" rtlCol="0" anchor="ctr"/>
          <a:lstStyle/>
          <a:p>
            <a:pPr indent="0" marL="0">
              <a:buNone/>
            </a:pPr>
            <a:r>
              <a:rPr lang="en-US" sz="1700" b="1" dirty="0">
                <a:solidFill>
                  <a:srgbClr val="EEF1F0"/>
                </a:solidFill>
                <a:latin typeface="Arial Black" pitchFamily="34" charset="0"/>
                <a:ea typeface="Arial Black" pitchFamily="34" charset="-122"/>
                <a:cs typeface="Arial Black" pitchFamily="34" charset="-120"/>
              </a:rPr>
              <a:t>Postopna izpostavljenost</a:t>
            </a:r>
            <a:endParaRPr lang="en-US" sz="1700" dirty="0"/>
          </a:p>
        </p:txBody>
      </p:sp>
      <p:sp>
        <p:nvSpPr>
          <p:cNvPr id="19" name="Text 17"/>
          <p:cNvSpPr/>
          <p:nvPr/>
        </p:nvSpPr>
        <p:spPr>
          <a:xfrm>
            <a:off x="4846320" y="4919472"/>
            <a:ext cx="6492240" cy="822960"/>
          </a:xfrm>
          <a:prstGeom prst="rect">
            <a:avLst/>
          </a:prstGeom>
          <a:noFill/>
          <a:ln/>
        </p:spPr>
        <p:txBody>
          <a:bodyPr wrap="square" rtlCol="0" anchor="ctr"/>
          <a:lstStyle/>
          <a:p>
            <a:pPr indent="0" marL="0">
              <a:lnSpc>
                <a:spcPct val="120000"/>
              </a:lnSpc>
              <a:buNone/>
            </a:pPr>
            <a:r>
              <a:rPr lang="en-US" sz="1350" dirty="0">
                <a:solidFill>
                  <a:srgbClr val="9AA7AE"/>
                </a:solidFill>
                <a:latin typeface="Calibri" pitchFamily="34" charset="0"/>
                <a:ea typeface="Calibri" pitchFamily="34" charset="-122"/>
                <a:cs typeface="Calibri" pitchFamily="34" charset="-120"/>
              </a:rPr>
              <a:t>nadzorovano soočanje s strahom pred višino v popolnoma varnem virtualnem okolju</a:t>
            </a:r>
            <a:endParaRPr lang="en-US" sz="1350" dirty="0"/>
          </a:p>
        </p:txBody>
      </p:sp>
      <p:sp>
        <p:nvSpPr>
          <p:cNvPr id="21" name="Text 18"/>
          <p:cNvSpPr/>
          <p:nvPr/>
        </p:nvSpPr>
        <p:spPr>
          <a:xfrm>
            <a:off x="640080" y="6400800"/>
            <a:ext cx="7315200" cy="274320"/>
          </a:xfrm>
          <a:prstGeom prst="rect">
            <a:avLst/>
          </a:prstGeom>
          <a:noFill/>
          <a:ln/>
        </p:spPr>
        <p:txBody>
          <a:bodyPr wrap="square" rtlCol="0" anchor="ctr"/>
          <a:lstStyle/>
          <a:p>
            <a:pPr indent="0" marL="0">
              <a:buNone/>
            </a:pPr>
            <a:r>
              <a:rPr lang="en-US" sz="900" spc="100" kern="0" dirty="0">
                <a:solidFill>
                  <a:srgbClr val="9AA7AE"/>
                </a:solidFill>
                <a:latin typeface="Consolas" pitchFamily="34" charset="0"/>
                <a:ea typeface="Consolas" pitchFamily="34" charset="-122"/>
                <a:cs typeface="Consolas" pitchFamily="34" charset="-120"/>
              </a:rPr>
              <a:t>VZPON — ZGODBA ŠOŠTANJSKE ELEKTRARNE</a:t>
            </a:r>
            <a:endParaRPr lang="en-US" sz="900" dirty="0"/>
          </a:p>
        </p:txBody>
      </p:sp>
      <p:sp>
        <p:nvSpPr>
          <p:cNvPr id="22" name="Text 19"/>
          <p:cNvSpPr/>
          <p:nvPr/>
        </p:nvSpPr>
        <p:spPr>
          <a:xfrm>
            <a:off x="7894015" y="6400800"/>
            <a:ext cx="3657600" cy="274320"/>
          </a:xfrm>
          <a:prstGeom prst="rect">
            <a:avLst/>
          </a:prstGeom>
          <a:noFill/>
          <a:ln/>
        </p:spPr>
        <p:txBody>
          <a:bodyPr wrap="square" rtlCol="0" anchor="ctr"/>
          <a:lstStyle/>
          <a:p>
            <a:pPr algn="r" indent="0" marL="0">
              <a:buNone/>
            </a:pPr>
            <a:r>
              <a:rPr lang="en-US" sz="900" dirty="0">
                <a:solidFill>
                  <a:srgbClr val="9AA7AE"/>
                </a:solidFill>
                <a:latin typeface="Consolas" pitchFamily="34" charset="0"/>
                <a:ea typeface="Consolas" pitchFamily="34" charset="-122"/>
                <a:cs typeface="Consolas"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81D"/>
        </a:solidFill>
      </p:bgPr>
    </p:bg>
    <p:spTree>
      <p:nvGrpSpPr>
        <p:cNvPr id="1" name=""/>
        <p:cNvGrpSpPr/>
        <p:nvPr/>
      </p:nvGrpSpPr>
      <p:grpSpPr>
        <a:xfrm>
          <a:off x="0" y="0"/>
          <a:ext cx="0" cy="0"/>
          <a:chOff x="0" y="0"/>
          <a:chExt cx="0" cy="0"/>
        </a:xfrm>
      </p:grpSpPr>
      <p:sp>
        <p:nvSpPr>
          <p:cNvPr id="2" name="Text 0"/>
          <p:cNvSpPr/>
          <p:nvPr/>
        </p:nvSpPr>
        <p:spPr>
          <a:xfrm>
            <a:off x="640080" y="384048"/>
            <a:ext cx="10911535" cy="320040"/>
          </a:xfrm>
          <a:prstGeom prst="rect">
            <a:avLst/>
          </a:prstGeom>
          <a:noFill/>
          <a:ln/>
        </p:spPr>
        <p:txBody>
          <a:bodyPr wrap="square" rtlCol="0" anchor="ctr"/>
          <a:lstStyle/>
          <a:p>
            <a:pPr indent="0" marL="0">
              <a:buNone/>
            </a:pPr>
            <a:r>
              <a:rPr lang="en-US" sz="1300" b="1" spc="200" kern="0" dirty="0">
                <a:solidFill>
                  <a:srgbClr val="FF7A3D"/>
                </a:solidFill>
                <a:latin typeface="Consolas" pitchFamily="34" charset="0"/>
                <a:ea typeface="Consolas" pitchFamily="34" charset="-122"/>
                <a:cs typeface="Consolas" pitchFamily="34" charset="-120"/>
              </a:rPr>
              <a:t>STANJE PROJEKTA</a:t>
            </a:r>
            <a:endParaRPr lang="en-US" sz="1300" dirty="0"/>
          </a:p>
        </p:txBody>
      </p:sp>
      <p:sp>
        <p:nvSpPr>
          <p:cNvPr id="3" name="Text 1"/>
          <p:cNvSpPr/>
          <p:nvPr/>
        </p:nvSpPr>
        <p:spPr>
          <a:xfrm>
            <a:off x="640080" y="658368"/>
            <a:ext cx="10911535" cy="822960"/>
          </a:xfrm>
          <a:prstGeom prst="rect">
            <a:avLst/>
          </a:prstGeom>
          <a:noFill/>
          <a:ln/>
        </p:spPr>
        <p:txBody>
          <a:bodyPr wrap="square" rtlCol="0" anchor="ctr"/>
          <a:lstStyle/>
          <a:p>
            <a:pPr indent="0" marL="0">
              <a:buNone/>
            </a:pPr>
            <a:r>
              <a:rPr lang="en-US" sz="3000" b="1" dirty="0">
                <a:solidFill>
                  <a:srgbClr val="EEF1F0"/>
                </a:solidFill>
                <a:latin typeface="Arial Black" pitchFamily="34" charset="0"/>
                <a:ea typeface="Arial Black" pitchFamily="34" charset="-122"/>
                <a:cs typeface="Arial Black" pitchFamily="34" charset="-120"/>
              </a:rPr>
              <a:t>Znane omejitve in kaj še manjka</a:t>
            </a:r>
            <a:endParaRPr lang="en-US" sz="3000" dirty="0"/>
          </a:p>
        </p:txBody>
      </p:sp>
      <p:sp>
        <p:nvSpPr>
          <p:cNvPr id="4" name="Shape 2"/>
          <p:cNvSpPr/>
          <p:nvPr/>
        </p:nvSpPr>
        <p:spPr>
          <a:xfrm>
            <a:off x="640080" y="1417320"/>
            <a:ext cx="1280160" cy="0"/>
          </a:xfrm>
          <a:prstGeom prst="line">
            <a:avLst/>
          </a:prstGeom>
          <a:noFill/>
          <a:ln w="38100">
            <a:solidFill>
              <a:srgbClr val="FF7A3D"/>
            </a:solidFill>
            <a:prstDash val="solid"/>
          </a:ln>
        </p:spPr>
      </p:sp>
      <p:sp>
        <p:nvSpPr>
          <p:cNvPr id="5" name="Text 3"/>
          <p:cNvSpPr/>
          <p:nvPr/>
        </p:nvSpPr>
        <p:spPr>
          <a:xfrm>
            <a:off x="640080" y="1828800"/>
            <a:ext cx="5120640" cy="320040"/>
          </a:xfrm>
          <a:prstGeom prst="rect">
            <a:avLst/>
          </a:prstGeom>
          <a:noFill/>
          <a:ln/>
        </p:spPr>
        <p:txBody>
          <a:bodyPr wrap="square" rtlCol="0" anchor="ctr"/>
          <a:lstStyle/>
          <a:p>
            <a:pPr indent="0" marL="0">
              <a:buNone/>
            </a:pPr>
            <a:r>
              <a:rPr lang="en-US" sz="1200" b="1" spc="100" kern="0" dirty="0">
                <a:solidFill>
                  <a:srgbClr val="5B86B8"/>
                </a:solidFill>
                <a:latin typeface="Consolas" pitchFamily="34" charset="0"/>
                <a:ea typeface="Consolas" pitchFamily="34" charset="-122"/>
                <a:cs typeface="Consolas" pitchFamily="34" charset="-120"/>
              </a:rPr>
              <a:t>ZNANE OMEJITVE</a:t>
            </a:r>
            <a:endParaRPr lang="en-US" sz="1200" dirty="0"/>
          </a:p>
        </p:txBody>
      </p:sp>
      <p:sp>
        <p:nvSpPr>
          <p:cNvPr id="6" name="Text 4"/>
          <p:cNvSpPr/>
          <p:nvPr/>
        </p:nvSpPr>
        <p:spPr>
          <a:xfrm>
            <a:off x="640080" y="2194560"/>
            <a:ext cx="5120640" cy="3200400"/>
          </a:xfrm>
          <a:prstGeom prst="rect">
            <a:avLst/>
          </a:prstGeom>
          <a:noFill/>
          <a:ln/>
        </p:spPr>
        <p:txBody>
          <a:bodyPr wrap="square" rtlCol="0" anchor="t"/>
          <a:lstStyle/>
          <a:p>
            <a:pPr marL="228600" indent="-228600">
              <a:lnSpc>
                <a:spcPct val="128000"/>
              </a:lnSpc>
              <a:buSzPct val="100000"/>
              <a:buChar char="–"/>
            </a:pPr>
            <a:r>
              <a:rPr lang="en-US" sz="1350" dirty="0">
                <a:solidFill>
                  <a:srgbClr val="EEF1F0"/>
                </a:solidFill>
                <a:latin typeface="Calibri" pitchFamily="34" charset="0"/>
                <a:ea typeface="Calibri" pitchFamily="34" charset="-122"/>
                <a:cs typeface="Calibri" pitchFamily="34" charset="-120"/>
              </a:rPr>
              <a:t>Canvas2D pogon, ne pravi WebGL/3D engine — brez pravih tekstur, brez strojnega z-bufferja</a:t>
            </a:r>
            <a:endParaRPr lang="en-US" sz="1350" dirty="0"/>
          </a:p>
          <a:p>
            <a:pPr marL="228600" indent="-228600">
              <a:lnSpc>
                <a:spcPct val="128000"/>
              </a:lnSpc>
              <a:buSzPct val="100000"/>
              <a:buChar char="–"/>
            </a:pPr>
            <a:r>
              <a:rPr lang="en-US" sz="1350" dirty="0">
                <a:solidFill>
                  <a:srgbClr val="EEF1F0"/>
                </a:solidFill>
                <a:latin typeface="Calibri" pitchFamily="34" charset="0"/>
                <a:ea typeface="Calibri" pitchFamily="34" charset="-122"/>
                <a:cs typeface="Calibri" pitchFamily="34" charset="-120"/>
              </a:rPr>
              <a:t>Ni še prave WebXR immersive-vr seje — testiranje na dejanski Meta Quest napravi še ni bilo izvedeno</a:t>
            </a:r>
            <a:endParaRPr lang="en-US" sz="1350" dirty="0"/>
          </a:p>
        </p:txBody>
      </p:sp>
      <p:sp>
        <p:nvSpPr>
          <p:cNvPr id="7" name="Text 5"/>
          <p:cNvSpPr/>
          <p:nvPr/>
        </p:nvSpPr>
        <p:spPr>
          <a:xfrm>
            <a:off x="6309360" y="1828800"/>
            <a:ext cx="5120640" cy="320040"/>
          </a:xfrm>
          <a:prstGeom prst="rect">
            <a:avLst/>
          </a:prstGeom>
          <a:noFill/>
          <a:ln/>
        </p:spPr>
        <p:txBody>
          <a:bodyPr wrap="square" rtlCol="0" anchor="ctr"/>
          <a:lstStyle/>
          <a:p>
            <a:pPr indent="0" marL="0">
              <a:buNone/>
            </a:pPr>
            <a:r>
              <a:rPr lang="en-US" sz="1200" b="1" spc="100" kern="0" dirty="0">
                <a:solidFill>
                  <a:srgbClr val="FF7A3D"/>
                </a:solidFill>
                <a:latin typeface="Consolas" pitchFamily="34" charset="0"/>
                <a:ea typeface="Consolas" pitchFamily="34" charset="-122"/>
                <a:cs typeface="Consolas" pitchFamily="34" charset="-120"/>
              </a:rPr>
              <a:t>KAJ ŠE MANJKA</a:t>
            </a:r>
            <a:endParaRPr lang="en-US" sz="1200" dirty="0"/>
          </a:p>
        </p:txBody>
      </p:sp>
      <p:sp>
        <p:nvSpPr>
          <p:cNvPr id="8" name="Text 6"/>
          <p:cNvSpPr/>
          <p:nvPr/>
        </p:nvSpPr>
        <p:spPr>
          <a:xfrm>
            <a:off x="6309360" y="2194560"/>
            <a:ext cx="5120640" cy="3200400"/>
          </a:xfrm>
          <a:prstGeom prst="rect">
            <a:avLst/>
          </a:prstGeom>
          <a:noFill/>
          <a:ln/>
        </p:spPr>
        <p:txBody>
          <a:bodyPr wrap="square" rtlCol="0" anchor="t"/>
          <a:lstStyle/>
          <a:p>
            <a:pPr marL="228600" indent="-228600">
              <a:lnSpc>
                <a:spcPct val="128000"/>
              </a:lnSpc>
              <a:buSzPct val="100000"/>
              <a:buChar char="–"/>
            </a:pPr>
            <a:r>
              <a:rPr lang="en-US" sz="1350" dirty="0">
                <a:solidFill>
                  <a:srgbClr val="EEF1F0"/>
                </a:solidFill>
                <a:latin typeface="Calibri" pitchFamily="34" charset="0"/>
                <a:ea typeface="Calibri" pitchFamily="34" charset="-122"/>
                <a:cs typeface="Calibri" pitchFamily="34" charset="-120"/>
              </a:rPr>
              <a:t>TheRokUrbanc dodan kot collaborator na GitHub repozitoriju</a:t>
            </a:r>
            <a:endParaRPr lang="en-US" sz="1350" dirty="0"/>
          </a:p>
          <a:p>
            <a:pPr marL="228600" indent="-228600">
              <a:lnSpc>
                <a:spcPct val="128000"/>
              </a:lnSpc>
              <a:buSzPct val="100000"/>
              <a:buChar char="–"/>
            </a:pPr>
            <a:r>
              <a:rPr lang="en-US" sz="1350" dirty="0">
                <a:solidFill>
                  <a:srgbClr val="EEF1F0"/>
                </a:solidFill>
                <a:latin typeface="Calibri" pitchFamily="34" charset="0"/>
                <a:ea typeface="Calibri" pitchFamily="34" charset="-122"/>
                <a:cs typeface="Calibri" pitchFamily="34" charset="-120"/>
              </a:rPr>
              <a:t>final-app/ — dejanska končna oddaja ob koncu semestra (celoten vzpon, več info-točk, zvok, checkpointi)</a:t>
            </a:r>
            <a:endParaRPr lang="en-US" sz="1350" dirty="0"/>
          </a:p>
          <a:p>
            <a:pPr marL="228600" indent="-228600">
              <a:lnSpc>
                <a:spcPct val="128000"/>
              </a:lnSpc>
              <a:buSzPct val="100000"/>
              <a:buChar char="–"/>
            </a:pPr>
            <a:r>
              <a:rPr lang="en-US" sz="1350" dirty="0">
                <a:solidFill>
                  <a:srgbClr val="EEF1F0"/>
                </a:solidFill>
                <a:latin typeface="Calibri" pitchFamily="34" charset="0"/>
                <a:ea typeface="Calibri" pitchFamily="34" charset="-122"/>
                <a:cs typeface="Calibri" pitchFamily="34" charset="-120"/>
              </a:rPr>
              <a:t>Testiranje na dejanski Meta Quest napravi</a:t>
            </a:r>
            <a:endParaRPr lang="en-US" sz="1350" dirty="0"/>
          </a:p>
        </p:txBody>
      </p:sp>
      <p:sp>
        <p:nvSpPr>
          <p:cNvPr id="10" name="Text 7"/>
          <p:cNvSpPr/>
          <p:nvPr/>
        </p:nvSpPr>
        <p:spPr>
          <a:xfrm>
            <a:off x="640080" y="6400800"/>
            <a:ext cx="7315200" cy="274320"/>
          </a:xfrm>
          <a:prstGeom prst="rect">
            <a:avLst/>
          </a:prstGeom>
          <a:noFill/>
          <a:ln/>
        </p:spPr>
        <p:txBody>
          <a:bodyPr wrap="square" rtlCol="0" anchor="ctr"/>
          <a:lstStyle/>
          <a:p>
            <a:pPr indent="0" marL="0">
              <a:buNone/>
            </a:pPr>
            <a:r>
              <a:rPr lang="en-US" sz="900" spc="100" kern="0" dirty="0">
                <a:solidFill>
                  <a:srgbClr val="9AA7AE"/>
                </a:solidFill>
                <a:latin typeface="Consolas" pitchFamily="34" charset="0"/>
                <a:ea typeface="Consolas" pitchFamily="34" charset="-122"/>
                <a:cs typeface="Consolas" pitchFamily="34" charset="-120"/>
              </a:rPr>
              <a:t>VZPON — ZGODBA ŠOŠTANJSKE ELEKTRARNE</a:t>
            </a:r>
            <a:endParaRPr lang="en-US" sz="900" dirty="0"/>
          </a:p>
        </p:txBody>
      </p:sp>
      <p:sp>
        <p:nvSpPr>
          <p:cNvPr id="11" name="Text 8"/>
          <p:cNvSpPr/>
          <p:nvPr/>
        </p:nvSpPr>
        <p:spPr>
          <a:xfrm>
            <a:off x="7894015" y="6400800"/>
            <a:ext cx="3657600" cy="274320"/>
          </a:xfrm>
          <a:prstGeom prst="rect">
            <a:avLst/>
          </a:prstGeom>
          <a:noFill/>
          <a:ln/>
        </p:spPr>
        <p:txBody>
          <a:bodyPr wrap="square" rtlCol="0" anchor="ctr"/>
          <a:lstStyle/>
          <a:p>
            <a:pPr algn="r" indent="0" marL="0">
              <a:buNone/>
            </a:pPr>
            <a:r>
              <a:rPr lang="en-US" sz="900" dirty="0">
                <a:solidFill>
                  <a:srgbClr val="9AA7AE"/>
                </a:solidFill>
                <a:latin typeface="Consolas" pitchFamily="34" charset="0"/>
                <a:ea typeface="Consolas" pitchFamily="34" charset="-122"/>
                <a:cs typeface="Consolas"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81D"/>
        </a:solidFill>
      </p:bgPr>
    </p:bg>
    <p:spTree>
      <p:nvGrpSpPr>
        <p:cNvPr id="1" name=""/>
        <p:cNvGrpSpPr/>
        <p:nvPr/>
      </p:nvGrpSpPr>
      <p:grpSpPr>
        <a:xfrm>
          <a:off x="0" y="0"/>
          <a:ext cx="0" cy="0"/>
          <a:chOff x="0" y="0"/>
          <a:chExt cx="0" cy="0"/>
        </a:xfrm>
      </p:grpSpPr>
      <p:sp>
        <p:nvSpPr>
          <p:cNvPr id="2" name="Text 0"/>
          <p:cNvSpPr/>
          <p:nvPr/>
        </p:nvSpPr>
        <p:spPr>
          <a:xfrm>
            <a:off x="640080" y="384048"/>
            <a:ext cx="10911535" cy="320040"/>
          </a:xfrm>
          <a:prstGeom prst="rect">
            <a:avLst/>
          </a:prstGeom>
          <a:noFill/>
          <a:ln/>
        </p:spPr>
        <p:txBody>
          <a:bodyPr wrap="square" rtlCol="0" anchor="ctr"/>
          <a:lstStyle/>
          <a:p>
            <a:pPr indent="0" marL="0">
              <a:buNone/>
            </a:pPr>
            <a:r>
              <a:rPr lang="en-US" sz="1300" b="1" spc="200" kern="0" dirty="0">
                <a:solidFill>
                  <a:srgbClr val="FF7A3D"/>
                </a:solidFill>
                <a:latin typeface="Consolas" pitchFamily="34" charset="0"/>
                <a:ea typeface="Consolas" pitchFamily="34" charset="-122"/>
                <a:cs typeface="Consolas" pitchFamily="34" charset="-120"/>
              </a:rPr>
              <a:t>REPOZITORIJ</a:t>
            </a:r>
            <a:endParaRPr lang="en-US" sz="1300" dirty="0"/>
          </a:p>
        </p:txBody>
      </p:sp>
      <p:sp>
        <p:nvSpPr>
          <p:cNvPr id="3" name="Text 1"/>
          <p:cNvSpPr/>
          <p:nvPr/>
        </p:nvSpPr>
        <p:spPr>
          <a:xfrm>
            <a:off x="640080" y="658368"/>
            <a:ext cx="10911535" cy="822960"/>
          </a:xfrm>
          <a:prstGeom prst="rect">
            <a:avLst/>
          </a:prstGeom>
          <a:noFill/>
          <a:ln/>
        </p:spPr>
        <p:txBody>
          <a:bodyPr wrap="square" rtlCol="0" anchor="ctr"/>
          <a:lstStyle/>
          <a:p>
            <a:pPr indent="0" marL="0">
              <a:buNone/>
            </a:pPr>
            <a:r>
              <a:rPr lang="en-US" sz="3000" b="1" dirty="0">
                <a:solidFill>
                  <a:srgbClr val="EEF1F0"/>
                </a:solidFill>
                <a:latin typeface="Arial Black" pitchFamily="34" charset="0"/>
                <a:ea typeface="Arial Black" pitchFamily="34" charset="-122"/>
                <a:cs typeface="Arial Black" pitchFamily="34" charset="-120"/>
              </a:rPr>
              <a:t>Struktura projekta na GitHub</a:t>
            </a:r>
            <a:endParaRPr lang="en-US" sz="3000" dirty="0"/>
          </a:p>
        </p:txBody>
      </p:sp>
      <p:sp>
        <p:nvSpPr>
          <p:cNvPr id="4" name="Shape 2"/>
          <p:cNvSpPr/>
          <p:nvPr/>
        </p:nvSpPr>
        <p:spPr>
          <a:xfrm>
            <a:off x="640080" y="1417320"/>
            <a:ext cx="1280160" cy="0"/>
          </a:xfrm>
          <a:prstGeom prst="line">
            <a:avLst/>
          </a:prstGeom>
          <a:noFill/>
          <a:ln w="38100">
            <a:solidFill>
              <a:srgbClr val="FF7A3D"/>
            </a:solidFill>
            <a:prstDash val="solid"/>
          </a:ln>
        </p:spPr>
      </p:sp>
      <p:sp>
        <p:nvSpPr>
          <p:cNvPr id="5" name="Shape 3"/>
          <p:cNvSpPr/>
          <p:nvPr/>
        </p:nvSpPr>
        <p:spPr>
          <a:xfrm>
            <a:off x="640080" y="1874520"/>
            <a:ext cx="10881360" cy="3931920"/>
          </a:xfrm>
          <a:prstGeom prst="roundRect">
            <a:avLst>
              <a:gd name="adj" fmla="val 1395"/>
            </a:avLst>
          </a:prstGeom>
          <a:solidFill>
            <a:srgbClr val="1B2127"/>
          </a:solidFill>
          <a:ln w="12700">
            <a:solidFill>
              <a:srgbClr val="323C44"/>
            </a:solidFill>
            <a:prstDash val="solid"/>
          </a:ln>
        </p:spPr>
      </p:sp>
      <p:sp>
        <p:nvSpPr>
          <p:cNvPr id="6" name="Text 4"/>
          <p:cNvSpPr/>
          <p:nvPr/>
        </p:nvSpPr>
        <p:spPr>
          <a:xfrm>
            <a:off x="914400" y="2103120"/>
            <a:ext cx="10332720" cy="3474720"/>
          </a:xfrm>
          <a:prstGeom prst="rect">
            <a:avLst/>
          </a:prstGeom>
          <a:noFill/>
          <a:ln/>
        </p:spPr>
        <p:txBody>
          <a:bodyPr wrap="square" rtlCol="0" anchor="t"/>
          <a:lstStyle/>
          <a:p>
            <a:pPr indent="0" marL="0">
              <a:lnSpc>
                <a:spcPct val="135000"/>
              </a:lnSpc>
              <a:buNone/>
            </a:pPr>
            <a:r>
              <a:rPr lang="en-US" sz="1400" dirty="0">
                <a:solidFill>
                  <a:srgbClr val="EEF1F0"/>
                </a:solidFill>
                <a:latin typeface="Consolas" pitchFamily="34" charset="0"/>
                <a:ea typeface="Consolas" pitchFamily="34" charset="-122"/>
                <a:cs typeface="Consolas" pitchFamily="34" charset="-120"/>
              </a:rPr>
              <a:t>VR-AR-Predmet/</a:t>
            </a:r>
            <a:endParaRPr lang="en-US" sz="1400" dirty="0"/>
          </a:p>
          <a:p>
            <a:pPr indent="0" marL="0">
              <a:lnSpc>
                <a:spcPct val="135000"/>
              </a:lnSpc>
              <a:buNone/>
            </a:pPr>
            <a:r>
              <a:rPr lang="en-US" sz="1400" dirty="0">
                <a:solidFill>
                  <a:srgbClr val="EEF1F0"/>
                </a:solidFill>
                <a:latin typeface="Consolas" pitchFamily="34" charset="0"/>
                <a:ea typeface="Consolas" pitchFamily="34" charset="-122"/>
                <a:cs typeface="Consolas" pitchFamily="34" charset="-120"/>
              </a:rPr>
              <a:t> ├─ vaja-01/ideja.md              — ideja aplikacije (problem, ciljna skupina, funkcionalnosti)</a:t>
            </a:r>
            <a:endParaRPr lang="en-US" sz="1400" dirty="0"/>
          </a:p>
          <a:p>
            <a:pPr indent="0" marL="0">
              <a:lnSpc>
                <a:spcPct val="135000"/>
              </a:lnSpc>
              <a:buNone/>
            </a:pPr>
            <a:r>
              <a:rPr lang="en-US" sz="1400" dirty="0">
                <a:solidFill>
                  <a:srgbClr val="EEF1F0"/>
                </a:solidFill>
                <a:latin typeface="Consolas" pitchFamily="34" charset="0"/>
                <a:ea typeface="Consolas" pitchFamily="34" charset="-122"/>
                <a:cs typeface="Consolas" pitchFamily="34" charset="-120"/>
              </a:rPr>
              <a:t> ├─ vaja-02/scenes.md + images/   — vizualizacija 3 scen (SVG skice)</a:t>
            </a:r>
            <a:endParaRPr lang="en-US" sz="1400" dirty="0"/>
          </a:p>
          <a:p>
            <a:pPr indent="0" marL="0">
              <a:lnSpc>
                <a:spcPct val="135000"/>
              </a:lnSpc>
              <a:buNone/>
            </a:pPr>
            <a:r>
              <a:rPr lang="en-US" sz="1400" dirty="0">
                <a:solidFill>
                  <a:srgbClr val="EEF1F0"/>
                </a:solidFill>
                <a:latin typeface="Consolas" pitchFamily="34" charset="0"/>
                <a:ea typeface="Consolas" pitchFamily="34" charset="-122"/>
                <a:cs typeface="Consolas" pitchFamily="34" charset="-120"/>
              </a:rPr>
              <a:t> ├─ vaja-03/tehnicna-zasnova.md   — tehnična zasnova: WebXR, Meta Quest, WASD+miška</a:t>
            </a:r>
            <a:endParaRPr lang="en-US" sz="1400" dirty="0"/>
          </a:p>
          <a:p>
            <a:pPr indent="0" marL="0">
              <a:lnSpc>
                <a:spcPct val="135000"/>
              </a:lnSpc>
              <a:buNone/>
            </a:pPr>
            <a:r>
              <a:rPr lang="en-US" sz="1400" dirty="0">
                <a:solidFill>
                  <a:srgbClr val="EEF1F0"/>
                </a:solidFill>
                <a:latin typeface="Consolas" pitchFamily="34" charset="0"/>
                <a:ea typeface="Consolas" pitchFamily="34" charset="-122"/>
                <a:cs typeface="Consolas" pitchFamily="34" charset="-120"/>
              </a:rPr>
              <a:t> ├─ prototype/</a:t>
            </a:r>
            <a:endParaRPr lang="en-US" sz="1400" dirty="0"/>
          </a:p>
          <a:p>
            <a:pPr indent="0" marL="0">
              <a:lnSpc>
                <a:spcPct val="135000"/>
              </a:lnSpc>
              <a:buNone/>
            </a:pPr>
            <a:r>
              <a:rPr lang="en-US" sz="1400" dirty="0">
                <a:solidFill>
                  <a:srgbClr val="EEF1F0"/>
                </a:solidFill>
                <a:latin typeface="Consolas" pitchFamily="34" charset="0"/>
                <a:ea typeface="Consolas" pitchFamily="34" charset="-122"/>
                <a:cs typeface="Consolas" pitchFamily="34" charset="-120"/>
              </a:rPr>
              <a:t> │   ├─ tes-sostanj.html          — GLAVNA DATOTEKA: delujoča interaktivna VR/spletna aplikacija</a:t>
            </a:r>
            <a:endParaRPr lang="en-US" sz="1400" dirty="0"/>
          </a:p>
          <a:p>
            <a:pPr indent="0" marL="0">
              <a:lnSpc>
                <a:spcPct val="135000"/>
              </a:lnSpc>
              <a:buNone/>
            </a:pPr>
            <a:r>
              <a:rPr lang="en-US" sz="1400" dirty="0">
                <a:solidFill>
                  <a:srgbClr val="EEF1F0"/>
                </a:solidFill>
                <a:latin typeface="Consolas" pitchFamily="34" charset="0"/>
                <a:ea typeface="Consolas" pitchFamily="34" charset="-122"/>
                <a:cs typeface="Consolas" pitchFamily="34" charset="-120"/>
              </a:rPr>
              <a:t> │   └─ README.md</a:t>
            </a:r>
            <a:endParaRPr lang="en-US" sz="1400" dirty="0"/>
          </a:p>
          <a:p>
            <a:pPr indent="0" marL="0">
              <a:lnSpc>
                <a:spcPct val="135000"/>
              </a:lnSpc>
              <a:buNone/>
            </a:pPr>
            <a:r>
              <a:rPr lang="en-US" sz="1400" dirty="0">
                <a:solidFill>
                  <a:srgbClr val="EEF1F0"/>
                </a:solidFill>
                <a:latin typeface="Consolas" pitchFamily="34" charset="0"/>
                <a:ea typeface="Consolas" pitchFamily="34" charset="-122"/>
                <a:cs typeface="Consolas" pitchFamily="34" charset="-120"/>
              </a:rPr>
              <a:t> └─ final-app/                    — načrt za končno oddajo semestra</a:t>
            </a:r>
            <a:endParaRPr lang="en-US" sz="1400" dirty="0"/>
          </a:p>
        </p:txBody>
      </p:sp>
      <p:sp>
        <p:nvSpPr>
          <p:cNvPr id="7" name="Text 5"/>
          <p:cNvSpPr/>
          <p:nvPr/>
        </p:nvSpPr>
        <p:spPr>
          <a:xfrm>
            <a:off x="640080" y="5989320"/>
            <a:ext cx="7315200" cy="365760"/>
          </a:xfrm>
          <a:prstGeom prst="rect">
            <a:avLst/>
          </a:prstGeom>
          <a:noFill/>
          <a:ln/>
        </p:spPr>
        <p:txBody>
          <a:bodyPr wrap="square" rtlCol="0" anchor="ctr"/>
          <a:lstStyle/>
          <a:p>
            <a:pPr indent="0" marL="0">
              <a:buNone/>
            </a:pPr>
            <a:r>
              <a:rPr lang="en-US" sz="1300" dirty="0">
                <a:solidFill>
                  <a:srgbClr val="FF7A3D"/>
                </a:solidFill>
                <a:latin typeface="Consolas" pitchFamily="34" charset="0"/>
                <a:ea typeface="Consolas" pitchFamily="34" charset="-122"/>
                <a:cs typeface="Consolas" pitchFamily="34" charset="-120"/>
              </a:rPr>
              <a:t>github.com/matevztasic/NOR</a:t>
            </a:r>
            <a:endParaRPr lang="en-US" sz="1300" dirty="0"/>
          </a:p>
        </p:txBody>
      </p:sp>
      <p:sp>
        <p:nvSpPr>
          <p:cNvPr id="9" name="Text 6"/>
          <p:cNvSpPr/>
          <p:nvPr/>
        </p:nvSpPr>
        <p:spPr>
          <a:xfrm>
            <a:off x="640080" y="6400800"/>
            <a:ext cx="7315200" cy="274320"/>
          </a:xfrm>
          <a:prstGeom prst="rect">
            <a:avLst/>
          </a:prstGeom>
          <a:noFill/>
          <a:ln/>
        </p:spPr>
        <p:txBody>
          <a:bodyPr wrap="square" rtlCol="0" anchor="ctr"/>
          <a:lstStyle/>
          <a:p>
            <a:pPr indent="0" marL="0">
              <a:buNone/>
            </a:pPr>
            <a:r>
              <a:rPr lang="en-US" sz="900" spc="100" kern="0" dirty="0">
                <a:solidFill>
                  <a:srgbClr val="9AA7AE"/>
                </a:solidFill>
                <a:latin typeface="Consolas" pitchFamily="34" charset="0"/>
                <a:ea typeface="Consolas" pitchFamily="34" charset="-122"/>
                <a:cs typeface="Consolas" pitchFamily="34" charset="-120"/>
              </a:rPr>
              <a:t>VZPON — ZGODBA ŠOŠTANJSKE ELEKTRARNE</a:t>
            </a:r>
            <a:endParaRPr lang="en-US" sz="900" dirty="0"/>
          </a:p>
        </p:txBody>
      </p:sp>
      <p:sp>
        <p:nvSpPr>
          <p:cNvPr id="10" name="Text 7"/>
          <p:cNvSpPr/>
          <p:nvPr/>
        </p:nvSpPr>
        <p:spPr>
          <a:xfrm>
            <a:off x="7894015" y="6400800"/>
            <a:ext cx="3657600" cy="274320"/>
          </a:xfrm>
          <a:prstGeom prst="rect">
            <a:avLst/>
          </a:prstGeom>
          <a:noFill/>
          <a:ln/>
        </p:spPr>
        <p:txBody>
          <a:bodyPr wrap="square" rtlCol="0" anchor="ctr"/>
          <a:lstStyle/>
          <a:p>
            <a:pPr algn="r" indent="0" marL="0">
              <a:buNone/>
            </a:pPr>
            <a:r>
              <a:rPr lang="en-US" sz="900" dirty="0">
                <a:solidFill>
                  <a:srgbClr val="9AA7AE"/>
                </a:solidFill>
                <a:latin typeface="Consolas" pitchFamily="34" charset="0"/>
                <a:ea typeface="Consolas" pitchFamily="34" charset="-122"/>
                <a:cs typeface="Consolas"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81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81D"/>
          </a:solidFill>
          <a:ln/>
        </p:spPr>
      </p:sp>
      <p:sp>
        <p:nvSpPr>
          <p:cNvPr id="3" name="Shape 1"/>
          <p:cNvSpPr/>
          <p:nvPr/>
        </p:nvSpPr>
        <p:spPr>
          <a:xfrm>
            <a:off x="0" y="0"/>
            <a:ext cx="12191695" cy="128016"/>
          </a:xfrm>
          <a:prstGeom prst="rect">
            <a:avLst/>
          </a:prstGeom>
          <a:solidFill>
            <a:srgbClr val="FF7A3D"/>
          </a:solidFill>
          <a:ln/>
        </p:spPr>
      </p:sp>
      <p:sp>
        <p:nvSpPr>
          <p:cNvPr id="4" name="Text 2"/>
          <p:cNvSpPr/>
          <p:nvPr/>
        </p:nvSpPr>
        <p:spPr>
          <a:xfrm>
            <a:off x="822960" y="2651760"/>
            <a:ext cx="10515600" cy="1097280"/>
          </a:xfrm>
          <a:prstGeom prst="rect">
            <a:avLst/>
          </a:prstGeom>
          <a:noFill/>
          <a:ln/>
        </p:spPr>
        <p:txBody>
          <a:bodyPr wrap="square" rtlCol="0" anchor="ctr"/>
          <a:lstStyle/>
          <a:p>
            <a:pPr indent="0" marL="0">
              <a:buNone/>
            </a:pPr>
            <a:r>
              <a:rPr lang="en-US" sz="4800" b="1" dirty="0">
                <a:solidFill>
                  <a:srgbClr val="EEF1F0"/>
                </a:solidFill>
                <a:latin typeface="Arial Black" pitchFamily="34" charset="0"/>
                <a:ea typeface="Arial Black" pitchFamily="34" charset="-122"/>
                <a:cs typeface="Arial Black" pitchFamily="34" charset="-120"/>
              </a:rPr>
              <a:t>Hvala za pozornost</a:t>
            </a:r>
            <a:endParaRPr lang="en-US" sz="4800" dirty="0"/>
          </a:p>
        </p:txBody>
      </p:sp>
      <p:sp>
        <p:nvSpPr>
          <p:cNvPr id="5" name="Text 3"/>
          <p:cNvSpPr/>
          <p:nvPr/>
        </p:nvSpPr>
        <p:spPr>
          <a:xfrm>
            <a:off x="822960" y="3611880"/>
            <a:ext cx="10515600" cy="640080"/>
          </a:xfrm>
          <a:prstGeom prst="rect">
            <a:avLst/>
          </a:prstGeom>
          <a:noFill/>
          <a:ln/>
        </p:spPr>
        <p:txBody>
          <a:bodyPr wrap="square" rtlCol="0" anchor="ctr"/>
          <a:lstStyle/>
          <a:p>
            <a:pPr indent="0" marL="0">
              <a:buNone/>
            </a:pPr>
            <a:r>
              <a:rPr lang="en-US" sz="2200" dirty="0">
                <a:solidFill>
                  <a:srgbClr val="9AA7AE"/>
                </a:solidFill>
                <a:latin typeface="Calibri" pitchFamily="34" charset="0"/>
                <a:ea typeface="Calibri" pitchFamily="34" charset="-122"/>
                <a:cs typeface="Calibri" pitchFamily="34" charset="-120"/>
              </a:rPr>
              <a:t>Vprašanja?</a:t>
            </a:r>
            <a:endParaRPr lang="en-US" sz="2200" dirty="0"/>
          </a:p>
        </p:txBody>
      </p:sp>
      <p:sp>
        <p:nvSpPr>
          <p:cNvPr id="6" name="Text 4"/>
          <p:cNvSpPr/>
          <p:nvPr/>
        </p:nvSpPr>
        <p:spPr>
          <a:xfrm>
            <a:off x="822960" y="6035040"/>
            <a:ext cx="10515600" cy="365760"/>
          </a:xfrm>
          <a:prstGeom prst="rect">
            <a:avLst/>
          </a:prstGeom>
          <a:noFill/>
          <a:ln/>
        </p:spPr>
        <p:txBody>
          <a:bodyPr wrap="square" rtlCol="0" anchor="ctr"/>
          <a:lstStyle/>
          <a:p>
            <a:pPr indent="0" marL="0">
              <a:buNone/>
            </a:pPr>
            <a:r>
              <a:rPr lang="en-US" sz="1200" dirty="0">
                <a:solidFill>
                  <a:srgbClr val="9AA7AE"/>
                </a:solidFill>
                <a:latin typeface="Consolas" pitchFamily="34" charset="0"/>
                <a:ea typeface="Consolas" pitchFamily="34" charset="-122"/>
                <a:cs typeface="Consolas" pitchFamily="34" charset="-120"/>
              </a:rPr>
              <a:t>Vzpon: Zgodba Šoštanjske elektrarne  ·  github.com/matevztasic/NOR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Vzpon: Zgodba Šoštanjske elektrarne</dc:title>
  <dc:subject>PptxGenJS Presentation</dc:subject>
  <dc:creator>Matevž Tasic</dc:creator>
  <cp:lastModifiedBy>Matevž Tasic</cp:lastModifiedBy>
  <cp:revision>1</cp:revision>
  <dcterms:created xsi:type="dcterms:W3CDTF">2026-08-31T07:05:17Z</dcterms:created>
  <dcterms:modified xsi:type="dcterms:W3CDTF">2026-08-31T07:05:17Z</dcterms:modified>
</cp:coreProperties>
</file>