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Pozdravljeni, moj projekt se imenuje Vzpon — Zgodba Šoštanjske elektrarne. Je VR aplikacija za predmet Razvijanje aplikacij virtualne in obogatene resničnosti, mentor je Rok Urbanc.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Hladilni stolp in dimnik TEŠ sta iz varnostnih razlogov zaprta za javnost, fizičen vzpon pa bi bil za večino prenevaren. Zgodovina slovenske energetike je predstavljena le na muzejskih tablah — ne kot nekaj, kar bi lahko doživeli. Zato sem naredil VR izkušnjo, ki uporabniku omogoči varen navidezni vzpon, med katerim spozna zgodovino elektrarne. Namenjena je šolam, turistom, ljudem s strahom pred višino in zaposlenim v TEŠ.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Uporabnik pleza po zunanji konstrukciji elektrarne. Ob kontrolnih točkah se med vzponom odpre zgodovina gradnje, na vrhu pa stopi na galerijo okoli odprtega žrela hladilnega stolpa — z razgledom na dolino in naravnim učinkom vrtoglavice.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Gibanje je z WASD tipkami in miško za pogled. Ob steni stolpa se gibanje spremeni v plezanje. Klik na zaslon zaklene miško za bolj naraven FPS način gledanja.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Aplikacija je zasnovana za WebXR — teče neposredno v brskalniku, tudi na Meta Quest napravi, brez namestitve. Unreal Engine sem opustil sredi projekta zaradi hitrosti razvoja. WebGL sem namenoma izpustil in namesto tega ročno napisal lasten Canvas2D 3D pogon.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Ves 3D svet izračunam ročno na navadnem 2D platnu — vsaka točka gre skozi pravo perspektivno projekcijo. Stolp ima pravo hiperboloidno obliko, je votel, in ima gladko senčenje, da lupina deluje ukrivljeno, ne kot niz ravnih plošč.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 je vznožje stolpa, pogled med vzponom po ukrivljeni steni, pogled v samo odprto žrelo na vrhu, in para, ki se dviga iz stolpa nad mestom Šoštanj — tako kot pri pravem TEŠ.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Dodana vrednost je varen dostop do sicer nedostopnega industrijskega prostora, izkustvena pot do zgodovine slovenske energetike, in možnost uporabe pri postopnem soočanju s strahom pred višino.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Trenutno gre za Canvas2D pogon, ne pravi WebGL, in aplikacija še ni bila testirana na dejanski Meta Quest napravi. Za končno oddajo načrtujem celoten vzpon, več info-točk in zvok.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Hvala za pozornost. Z veseljem odgovorim na vprašanja.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F7A3D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2860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7A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VR/AR PROJEKT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265176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EEF1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Vzpon</a:t>
            </a:r>
            <a:endParaRPr lang="en-US" sz="76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9AA7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Zgodba Šoštanjske elektrarne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7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Matevž Tasic  ·  Mentor: Rok Urbanc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7A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72865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Nedostopna višina, neopisana zgodovina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1188720" cy="0"/>
          </a:xfrm>
          <a:prstGeom prst="line">
            <a:avLst/>
          </a:prstGeom>
          <a:noFill/>
          <a:ln w="38100">
            <a:solidFill>
              <a:srgbClr val="FF7A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965960"/>
            <a:ext cx="1069848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40000"/>
              </a:lnSpc>
              <a:buSzPct val="100000"/>
              <a:buChar char="–"/>
            </a:pPr>
            <a:r>
              <a:rPr lang="en-US" sz="1900" dirty="0">
                <a:solidFill>
                  <a:srgbClr val="EE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Hladilni stolp in dimnik TEŠ sta zaprta za javnost, fizičen vzpon pa je prenevaren</a:t>
            </a:r>
            <a:endParaRPr lang="en-US" sz="1900" dirty="0"/>
          </a:p>
          <a:p>
            <a:pPr marL="254000" indent="-254000">
              <a:lnSpc>
                <a:spcPct val="140000"/>
              </a:lnSpc>
              <a:buSzPct val="100000"/>
              <a:buChar char="–"/>
            </a:pPr>
            <a:r>
              <a:rPr lang="en-US" sz="1900" dirty="0">
                <a:solidFill>
                  <a:srgbClr val="EE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Zgodovina slovenske energetike je le na muzejskih tablah — ne kot doživetje</a:t>
            </a:r>
            <a:endParaRPr lang="en-US" sz="1900" dirty="0"/>
          </a:p>
          <a:p>
            <a:pPr marL="254000" indent="-254000">
              <a:lnSpc>
                <a:spcPct val="140000"/>
              </a:lnSpc>
              <a:buSzPct val="100000"/>
              <a:buChar char="–"/>
            </a:pPr>
            <a:r>
              <a:rPr lang="en-US" sz="1900" dirty="0">
                <a:solidFill>
                  <a:srgbClr val="EE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Rešitev: varen navidezni vzpon, med katerim uporabnik spozna zgodovino elektrarne</a:t>
            </a:r>
            <a:endParaRPr lang="en-US" sz="1900" dirty="0"/>
          </a:p>
          <a:p>
            <a:pPr marL="254000" indent="-254000">
              <a:lnSpc>
                <a:spcPct val="140000"/>
              </a:lnSpc>
              <a:buSzPct val="100000"/>
              <a:buChar char="–"/>
            </a:pPr>
            <a:r>
              <a:rPr lang="en-US" sz="1900" dirty="0">
                <a:solidFill>
                  <a:srgbClr val="EE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 koga: šole, turisti, ljudje s strahom pred višino, zaposleni v TEŠ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7A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VR REŠITEV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72865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Vzpon skozi čas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1188720" cy="0"/>
          </a:xfrm>
          <a:prstGeom prst="line">
            <a:avLst/>
          </a:prstGeom>
          <a:noFill/>
          <a:ln w="38100">
            <a:solidFill>
              <a:srgbClr val="FF7A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9659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EE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Uporabnik pleza po zunanji konstrukciji elektrarne. Na vrhu stopi na galerijo okoli odprtega žrela hladilnega stolpa, z razgledom na dolino.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106984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40000"/>
              </a:lnSpc>
              <a:buSzPct val="100000"/>
              <a:buChar char="–"/>
            </a:pPr>
            <a:r>
              <a:rPr lang="en-US" sz="1900" dirty="0">
                <a:solidFill>
                  <a:srgbClr val="EE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Hoja do stolpa in plezanje ob steni</a:t>
            </a:r>
            <a:endParaRPr lang="en-US" sz="1900" dirty="0"/>
          </a:p>
          <a:p>
            <a:pPr marL="254000" indent="-254000">
              <a:lnSpc>
                <a:spcPct val="140000"/>
              </a:lnSpc>
              <a:buSzPct val="100000"/>
              <a:buChar char="–"/>
            </a:pPr>
            <a:r>
              <a:rPr lang="en-US" sz="1900" dirty="0">
                <a:solidFill>
                  <a:srgbClr val="EE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Zgodovinske info-točke ob različnih višinah vzpona</a:t>
            </a:r>
            <a:endParaRPr lang="en-US" sz="1900" dirty="0"/>
          </a:p>
          <a:p>
            <a:pPr marL="254000" indent="-254000">
              <a:lnSpc>
                <a:spcPct val="140000"/>
              </a:lnSpc>
              <a:buSzPct val="100000"/>
              <a:buChar char="–"/>
            </a:pPr>
            <a:r>
              <a:rPr lang="en-US" sz="1900" dirty="0">
                <a:solidFill>
                  <a:srgbClr val="EE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vrhu: galerija okoli odprtega žrela, iz katerega se dviga para</a:t>
            </a:r>
            <a:endParaRPr lang="en-US" sz="1900" dirty="0"/>
          </a:p>
          <a:p>
            <a:pPr marL="254000" indent="-254000">
              <a:lnSpc>
                <a:spcPct val="140000"/>
              </a:lnSpc>
              <a:buSzPct val="100000"/>
              <a:buChar char="–"/>
            </a:pPr>
            <a:r>
              <a:rPr lang="en-US" sz="1900" dirty="0">
                <a:solidFill>
                  <a:srgbClr val="EE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Naraven učinek vrtoglavice ob robu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7A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VR REŠITEV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72865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Upravljanje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1188720" cy="0"/>
          </a:xfrm>
          <a:prstGeom prst="line">
            <a:avLst/>
          </a:prstGeom>
          <a:noFill/>
          <a:ln w="38100">
            <a:solidFill>
              <a:srgbClr val="FF7A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965960"/>
            <a:ext cx="1069848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40000"/>
              </a:lnSpc>
              <a:buSzPct val="100000"/>
              <a:buChar char="–"/>
            </a:pPr>
            <a:r>
              <a:rPr lang="en-US" sz="1900" dirty="0">
                <a:solidFill>
                  <a:srgbClr val="EE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A S D — gibanje (ob steni: plezanje navzgor/navzdol)</a:t>
            </a:r>
            <a:endParaRPr lang="en-US" sz="1900" dirty="0"/>
          </a:p>
          <a:p>
            <a:pPr marL="254000" indent="-254000">
              <a:lnSpc>
                <a:spcPct val="140000"/>
              </a:lnSpc>
              <a:buSzPct val="100000"/>
              <a:buChar char="–"/>
            </a:pPr>
            <a:r>
              <a:rPr lang="en-US" sz="1900" dirty="0">
                <a:solidFill>
                  <a:srgbClr val="EE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— tek</a:t>
            </a:r>
            <a:endParaRPr lang="en-US" sz="1900" dirty="0"/>
          </a:p>
          <a:p>
            <a:pPr marL="254000" indent="-254000">
              <a:lnSpc>
                <a:spcPct val="140000"/>
              </a:lnSpc>
              <a:buSzPct val="100000"/>
              <a:buChar char="–"/>
            </a:pPr>
            <a:r>
              <a:rPr lang="en-US" sz="1900" dirty="0">
                <a:solidFill>
                  <a:srgbClr val="EE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Miška — pogled (klik na zaslon zaklene kurzor za FPS-slog gledanja)</a:t>
            </a:r>
            <a:endParaRPr lang="en-US" sz="1900" dirty="0"/>
          </a:p>
          <a:p>
            <a:pPr marL="254000" indent="-254000">
              <a:lnSpc>
                <a:spcPct val="140000"/>
              </a:lnSpc>
              <a:buSzPct val="100000"/>
              <a:buChar char="–"/>
            </a:pPr>
            <a:r>
              <a:rPr lang="en-US" sz="1900" dirty="0">
                <a:solidFill>
                  <a:srgbClr val="EE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aplikaciji" — predstavitveni panel, "Ponastavi" — vrne na začetek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7A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UPORABLJENE TEHNOLOGIJE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72865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WebXR — teče brez namestitve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1188720" cy="0"/>
          </a:xfrm>
          <a:prstGeom prst="line">
            <a:avLst/>
          </a:prstGeom>
          <a:noFill/>
          <a:ln w="38100">
            <a:solidFill>
              <a:srgbClr val="FF7A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965960"/>
            <a:ext cx="1069848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40000"/>
              </a:lnSpc>
              <a:buSzPct val="100000"/>
              <a:buChar char="–"/>
            </a:pPr>
            <a:r>
              <a:rPr lang="en-US" sz="1900" dirty="0">
                <a:solidFill>
                  <a:srgbClr val="EE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WebXR — aplikacija teče neposredno v brskalniku, tudi na Meta Quest napravi</a:t>
            </a:r>
            <a:endParaRPr lang="en-US" sz="1900" dirty="0"/>
          </a:p>
          <a:p>
            <a:pPr marL="254000" indent="-254000">
              <a:lnSpc>
                <a:spcPct val="140000"/>
              </a:lnSpc>
              <a:buSzPct val="100000"/>
              <a:buChar char="–"/>
            </a:pPr>
            <a:r>
              <a:rPr lang="en-US" sz="1900" dirty="0">
                <a:solidFill>
                  <a:srgbClr val="EE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Unreal Engine opuščen sredi projekta zaradi hitrosti razvoja</a:t>
            </a:r>
            <a:endParaRPr lang="en-US" sz="1900" dirty="0"/>
          </a:p>
          <a:p>
            <a:pPr marL="254000" indent="-254000">
              <a:lnSpc>
                <a:spcPct val="140000"/>
              </a:lnSpc>
              <a:buSzPct val="100000"/>
              <a:buChar char="–"/>
            </a:pPr>
            <a:r>
              <a:rPr lang="en-US" sz="1900" dirty="0">
                <a:solidFill>
                  <a:srgbClr val="EE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WebGL/Three.js namenoma izpuščen — lasten ročno pisan Canvas2D 3D pogon</a:t>
            </a:r>
            <a:endParaRPr lang="en-US" sz="1900" dirty="0"/>
          </a:p>
          <a:p>
            <a:pPr marL="254000" indent="-254000">
              <a:lnSpc>
                <a:spcPct val="140000"/>
              </a:lnSpc>
              <a:buSzPct val="100000"/>
              <a:buChar char="–"/>
            </a:pPr>
            <a:r>
              <a:rPr lang="en-US" sz="1900" dirty="0">
                <a:solidFill>
                  <a:srgbClr val="EE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 sama HTML datoteka, brez zunanjih knjižnic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7A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KAKO DELUJE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72865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Ročno pisan Canvas2D 3D pogon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1188720" cy="0"/>
          </a:xfrm>
          <a:prstGeom prst="line">
            <a:avLst/>
          </a:prstGeom>
          <a:noFill/>
          <a:ln w="38100">
            <a:solidFill>
              <a:srgbClr val="FF7A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965960"/>
            <a:ext cx="1069848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40000"/>
              </a:lnSpc>
              <a:buSzPct val="100000"/>
              <a:buChar char="–"/>
            </a:pPr>
            <a:r>
              <a:rPr lang="en-US" sz="1900" dirty="0">
                <a:solidFill>
                  <a:srgbClr val="EE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 3D svet se izračuna vsako sličico na navadnem 2D platnu</a:t>
            </a:r>
            <a:endParaRPr lang="en-US" sz="1900" dirty="0"/>
          </a:p>
          <a:p>
            <a:pPr marL="254000" indent="-254000">
              <a:lnSpc>
                <a:spcPct val="140000"/>
              </a:lnSpc>
              <a:buSzPct val="100000"/>
              <a:buChar char="–"/>
            </a:pPr>
            <a:r>
              <a:rPr lang="en-US" sz="1900" dirty="0">
                <a:solidFill>
                  <a:srgbClr val="EE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Ploskve se ročno sortirajo od najbolj oddaljenih do najbližjih</a:t>
            </a:r>
            <a:endParaRPr lang="en-US" sz="1900" dirty="0"/>
          </a:p>
          <a:p>
            <a:pPr marL="254000" indent="-254000">
              <a:lnSpc>
                <a:spcPct val="140000"/>
              </a:lnSpc>
              <a:buSzPct val="100000"/>
              <a:buChar char="–"/>
            </a:pPr>
            <a:r>
              <a:rPr lang="en-US" sz="1900" dirty="0">
                <a:solidFill>
                  <a:srgbClr val="EE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Stolp ima pravo hiperboloidno obliko in je votel, z odprtim vrhom</a:t>
            </a:r>
            <a:endParaRPr lang="en-US" sz="1900" dirty="0"/>
          </a:p>
          <a:p>
            <a:pPr marL="254000" indent="-254000">
              <a:lnSpc>
                <a:spcPct val="140000"/>
              </a:lnSpc>
              <a:buSzPct val="100000"/>
              <a:buChar char="–"/>
            </a:pPr>
            <a:r>
              <a:rPr lang="en-US" sz="1900" dirty="0">
                <a:solidFill>
                  <a:srgbClr val="EE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Gladko senčenje — lupina deluje ukrivljeno, ne kot niz ravnih plošč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7A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DELUJOČA DEMONSTRACIJA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72865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Posnetki zaslona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1188720" cy="0"/>
          </a:xfrm>
          <a:prstGeom prst="line">
            <a:avLst/>
          </a:prstGeom>
          <a:noFill/>
          <a:ln w="38100">
            <a:solidFill>
              <a:srgbClr val="FF7A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10</a:t>
            </a:r>
            <a:endParaRPr lang="en-US" sz="1000" dirty="0"/>
          </a:p>
        </p:txBody>
      </p:sp>
      <p:pic>
        <p:nvPicPr>
          <p:cNvPr id="6" name="Image 0" descr="C:\Users\Matevž\Desktop\Vzpon-posnetki\01-gro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74520"/>
            <a:ext cx="5257800" cy="295751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1520" y="1874520"/>
            <a:ext cx="5257800" cy="2957513"/>
          </a:xfrm>
          <a:prstGeom prst="rect">
            <a:avLst/>
          </a:prstGeom>
          <a:ln w="12700">
            <a:solidFill>
              <a:srgbClr val="323C44"/>
            </a:solidFill>
            <a:prstDash val="solid"/>
          </a:ln>
        </p:spPr>
      </p:sp>
      <p:pic>
        <p:nvPicPr>
          <p:cNvPr id="8" name="Image 1" descr="C:\Users\Matevž\Desktop\Vzpon-posnetki\03-climb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874520"/>
            <a:ext cx="5257800" cy="2957513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309360" y="1874520"/>
            <a:ext cx="5257800" cy="2957513"/>
          </a:xfrm>
          <a:prstGeom prst="rect">
            <a:avLst/>
          </a:prstGeom>
          <a:ln w="12700">
            <a:solidFill>
              <a:srgbClr val="323C44"/>
            </a:solidFill>
            <a:prstDash val="solid"/>
          </a:ln>
        </p:spPr>
      </p:sp>
      <p:pic>
        <p:nvPicPr>
          <p:cNvPr id="10" name="Image 2" descr="C:\Users\Matevž\Desktop\Vzpon-posnetki\05-shaf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5152073"/>
            <a:ext cx="5257800" cy="2957513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731520" y="5152073"/>
            <a:ext cx="5257800" cy="2957513"/>
          </a:xfrm>
          <a:prstGeom prst="rect">
            <a:avLst/>
          </a:prstGeom>
          <a:ln w="12700">
            <a:solidFill>
              <a:srgbClr val="323C44"/>
            </a:solidFill>
            <a:prstDash val="solid"/>
          </a:ln>
        </p:spPr>
      </p:sp>
      <p:pic>
        <p:nvPicPr>
          <p:cNvPr id="12" name="Image 3" descr="C:\Users\Matevž\Desktop\Vzpon-posnetki\06-plu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5152073"/>
            <a:ext cx="5257800" cy="2957513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6309360" y="5152073"/>
            <a:ext cx="5257800" cy="2957513"/>
          </a:xfrm>
          <a:prstGeom prst="rect">
            <a:avLst/>
          </a:prstGeom>
          <a:ln w="12700">
            <a:solidFill>
              <a:srgbClr val="323C44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7A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DODANA VREDNOST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72865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Zakaj je to vredno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1188720" cy="0"/>
          </a:xfrm>
          <a:prstGeom prst="line">
            <a:avLst/>
          </a:prstGeom>
          <a:noFill/>
          <a:ln w="38100">
            <a:solidFill>
              <a:srgbClr val="FF7A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965960"/>
            <a:ext cx="1069848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40000"/>
              </a:lnSpc>
              <a:buSzPct val="100000"/>
              <a:buChar char="–"/>
            </a:pPr>
            <a:r>
              <a:rPr lang="en-US" sz="1900" dirty="0">
                <a:solidFill>
                  <a:srgbClr val="EE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Varen dostop do sicer nedostopnega industrijskega prostora</a:t>
            </a:r>
            <a:endParaRPr lang="en-US" sz="1900" dirty="0"/>
          </a:p>
          <a:p>
            <a:pPr marL="254000" indent="-254000">
              <a:lnSpc>
                <a:spcPct val="140000"/>
              </a:lnSpc>
              <a:buSzPct val="100000"/>
              <a:buChar char="–"/>
            </a:pPr>
            <a:r>
              <a:rPr lang="en-US" sz="1900" dirty="0">
                <a:solidFill>
                  <a:srgbClr val="EE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Izkustvena pot do zgodovine slovenske energetike</a:t>
            </a:r>
            <a:endParaRPr lang="en-US" sz="1900" dirty="0"/>
          </a:p>
          <a:p>
            <a:pPr marL="254000" indent="-254000">
              <a:lnSpc>
                <a:spcPct val="140000"/>
              </a:lnSpc>
              <a:buSzPct val="100000"/>
              <a:buChar char="–"/>
            </a:pPr>
            <a:r>
              <a:rPr lang="en-US" sz="1900" dirty="0">
                <a:solidFill>
                  <a:srgbClr val="EE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Možnost uporabe pri postopnem soočanju s strahom pred višino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7A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STANJE PROJEKTA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72865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Omejitve in naslednji koraki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1188720" cy="0"/>
          </a:xfrm>
          <a:prstGeom prst="line">
            <a:avLst/>
          </a:prstGeom>
          <a:noFill/>
          <a:ln w="38100">
            <a:solidFill>
              <a:srgbClr val="FF7A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/ 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965960"/>
            <a:ext cx="1069848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40000"/>
              </a:lnSpc>
              <a:buSzPct val="100000"/>
              <a:buChar char="–"/>
            </a:pPr>
            <a:r>
              <a:rPr lang="en-US" sz="1900" dirty="0">
                <a:solidFill>
                  <a:srgbClr val="EE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Canvas2D pogon, ne pravi WebGL — brez pravih tekstur</a:t>
            </a:r>
            <a:endParaRPr lang="en-US" sz="1900" dirty="0"/>
          </a:p>
          <a:p>
            <a:pPr marL="254000" indent="-254000">
              <a:lnSpc>
                <a:spcPct val="140000"/>
              </a:lnSpc>
              <a:buSzPct val="100000"/>
              <a:buChar char="–"/>
            </a:pPr>
            <a:r>
              <a:rPr lang="en-US" sz="1900" dirty="0">
                <a:solidFill>
                  <a:srgbClr val="EE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Še ni testirano na dejanski Meta Quest napravi</a:t>
            </a:r>
            <a:endParaRPr lang="en-US" sz="1900" dirty="0"/>
          </a:p>
          <a:p>
            <a:pPr marL="254000" indent="-254000">
              <a:lnSpc>
                <a:spcPct val="140000"/>
              </a:lnSpc>
              <a:buSzPct val="100000"/>
              <a:buChar char="–"/>
            </a:pPr>
            <a:r>
              <a:rPr lang="en-US" sz="1900" dirty="0">
                <a:solidFill>
                  <a:srgbClr val="EE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 končno oddajo: celoten vzpon, več info-točk, zvok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F7A3D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6517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EF1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Hvala za pozornost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AA7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Vprašanja?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github.com/matevztasic/NOR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Vzpon: Zgodba Šoštanjske elektrarne</dc:title>
  <dc:subject>PptxGenJS Presentation</dc:subject>
  <dc:creator>Matevž Tasic</dc:creator>
  <cp:lastModifiedBy>Matevž Tasic</cp:lastModifiedBy>
  <cp:revision>1</cp:revision>
  <dcterms:created xsi:type="dcterms:W3CDTF">2026-08-31T07:23:07Z</dcterms:created>
  <dcterms:modified xsi:type="dcterms:W3CDTF">2026-08-31T07:23:07Z</dcterms:modified>
</cp:coreProperties>
</file>